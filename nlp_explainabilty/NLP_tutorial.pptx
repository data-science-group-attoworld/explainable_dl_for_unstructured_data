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4"/>
    <p:sldMasterId id="2147483676" r:id="rId5"/>
  </p:sldMasterIdLst>
  <p:notesMasterIdLst>
    <p:notesMasterId r:id="rId14"/>
  </p:notesMasterIdLst>
  <p:handoutMasterIdLst>
    <p:handoutMasterId r:id="rId15"/>
  </p:handoutMasterIdLst>
  <p:sldIdLst>
    <p:sldId id="264" r:id="rId6"/>
    <p:sldId id="257" r:id="rId7"/>
    <p:sldId id="289" r:id="rId8"/>
    <p:sldId id="259" r:id="rId9"/>
    <p:sldId id="260" r:id="rId10"/>
    <p:sldId id="261" r:id="rId11"/>
    <p:sldId id="290" r:id="rId12"/>
    <p:sldId id="291" r:id="rId13"/>
  </p:sldIdLst>
  <p:sldSz cx="24382413" cy="13716000"/>
  <p:notesSz cx="6858000" cy="9144000"/>
  <p:embeddedFontLst>
    <p:embeddedFont>
      <p:font typeface="Lato" panose="020F0502020204030203" pitchFamily="34" charset="0"/>
      <p:regular r:id="rId16"/>
      <p:bold r:id="rId17"/>
      <p:italic r:id="rId18"/>
      <p:boldItalic r:id="rId19"/>
    </p:embeddedFont>
    <p:embeddedFont>
      <p:font typeface="Lato Black" panose="020F0502020204030203" pitchFamily="34" charset="0"/>
      <p:bold r:id="rId20"/>
      <p:italic r:id="rId21"/>
      <p:boldItalic r:id="rId22"/>
    </p:embeddedFont>
    <p:embeddedFont>
      <p:font typeface="Lato Light" panose="020F0502020204030203" pitchFamily="34" charset="0"/>
      <p:regular r:id="rId23"/>
      <p:italic r:id="rId2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A266E1-D802-4849-9555-E977D88B5750}" v="2" dt="2026-07-07T09:43:27.2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846" autoAdjust="0"/>
  </p:normalViewPr>
  <p:slideViewPr>
    <p:cSldViewPr snapToGrid="0">
      <p:cViewPr>
        <p:scale>
          <a:sx n="75" d="100"/>
          <a:sy n="75" d="100"/>
        </p:scale>
        <p:origin x="2011" y="119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7" d="100"/>
          <a:sy n="87" d="100"/>
        </p:scale>
        <p:origin x="3090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font" Target="fonts/font3.fntdata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font" Target="fonts/font6.fntdata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font" Target="fonts/font2.fntdata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font" Target="fonts/font9.fntdata"/><Relationship Id="rId5" Type="http://schemas.openxmlformats.org/officeDocument/2006/relationships/slideMaster" Target="slideMasters/slideMaster2.xml"/><Relationship Id="rId15" Type="http://schemas.openxmlformats.org/officeDocument/2006/relationships/handoutMaster" Target="handoutMasters/handoutMaster1.xml"/><Relationship Id="rId23" Type="http://schemas.openxmlformats.org/officeDocument/2006/relationships/font" Target="fonts/font8.fntdata"/><Relationship Id="rId28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font" Target="fonts/font4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7.fntdata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arándy Zita" userId="74efbeb4-003a-420d-b730-606d9f4c7f2c" providerId="ADAL" clId="{B3D2F251-BFC7-49E3-A08E-E6A051C778C2}"/>
    <pc:docChg chg="undo custSel modSld">
      <pc:chgData name="Zarándy Zita" userId="74efbeb4-003a-420d-b730-606d9f4c7f2c" providerId="ADAL" clId="{B3D2F251-BFC7-49E3-A08E-E6A051C778C2}" dt="2026-07-07T09:45:19.315" v="46" actId="790"/>
      <pc:docMkLst>
        <pc:docMk/>
      </pc:docMkLst>
      <pc:sldChg chg="modSp mod">
        <pc:chgData name="Zarándy Zita" userId="74efbeb4-003a-420d-b730-606d9f4c7f2c" providerId="ADAL" clId="{B3D2F251-BFC7-49E3-A08E-E6A051C778C2}" dt="2026-07-07T09:45:19.315" v="46" actId="790"/>
        <pc:sldMkLst>
          <pc:docMk/>
          <pc:sldMk cId="0" sldId="257"/>
        </pc:sldMkLst>
        <pc:spChg chg="mod">
          <ac:chgData name="Zarándy Zita" userId="74efbeb4-003a-420d-b730-606d9f4c7f2c" providerId="ADAL" clId="{B3D2F251-BFC7-49E3-A08E-E6A051C778C2}" dt="2026-07-07T09:45:19.315" v="46" actId="790"/>
          <ac:spMkLst>
            <pc:docMk/>
            <pc:sldMk cId="0" sldId="257"/>
            <ac:spMk id="5" creationId="{00000000-0000-0000-0000-000000000000}"/>
          </ac:spMkLst>
        </pc:spChg>
        <pc:spChg chg="mod">
          <ac:chgData name="Zarándy Zita" userId="74efbeb4-003a-420d-b730-606d9f4c7f2c" providerId="ADAL" clId="{B3D2F251-BFC7-49E3-A08E-E6A051C778C2}" dt="2026-07-07T09:45:19.315" v="46" actId="790"/>
          <ac:spMkLst>
            <pc:docMk/>
            <pc:sldMk cId="0" sldId="257"/>
            <ac:spMk id="8" creationId="{00000000-0000-0000-0000-000000000000}"/>
          </ac:spMkLst>
        </pc:spChg>
        <pc:spChg chg="mod">
          <ac:chgData name="Zarándy Zita" userId="74efbeb4-003a-420d-b730-606d9f4c7f2c" providerId="ADAL" clId="{B3D2F251-BFC7-49E3-A08E-E6A051C778C2}" dt="2026-07-07T09:45:19.315" v="46" actId="790"/>
          <ac:spMkLst>
            <pc:docMk/>
            <pc:sldMk cId="0" sldId="257"/>
            <ac:spMk id="10" creationId="{00000000-0000-0000-0000-000000000000}"/>
          </ac:spMkLst>
        </pc:spChg>
        <pc:spChg chg="mod">
          <ac:chgData name="Zarándy Zita" userId="74efbeb4-003a-420d-b730-606d9f4c7f2c" providerId="ADAL" clId="{B3D2F251-BFC7-49E3-A08E-E6A051C778C2}" dt="2026-07-07T09:45:19.315" v="46" actId="790"/>
          <ac:spMkLst>
            <pc:docMk/>
            <pc:sldMk cId="0" sldId="257"/>
            <ac:spMk id="14" creationId="{00000000-0000-0000-0000-000000000000}"/>
          </ac:spMkLst>
        </pc:spChg>
        <pc:spChg chg="mod">
          <ac:chgData name="Zarándy Zita" userId="74efbeb4-003a-420d-b730-606d9f4c7f2c" providerId="ADAL" clId="{B3D2F251-BFC7-49E3-A08E-E6A051C778C2}" dt="2026-07-07T09:45:19.315" v="46" actId="790"/>
          <ac:spMkLst>
            <pc:docMk/>
            <pc:sldMk cId="0" sldId="257"/>
            <ac:spMk id="16" creationId="{00000000-0000-0000-0000-000000000000}"/>
          </ac:spMkLst>
        </pc:spChg>
        <pc:spChg chg="mod">
          <ac:chgData name="Zarándy Zita" userId="74efbeb4-003a-420d-b730-606d9f4c7f2c" providerId="ADAL" clId="{B3D2F251-BFC7-49E3-A08E-E6A051C778C2}" dt="2026-07-07T09:45:19.315" v="46" actId="790"/>
          <ac:spMkLst>
            <pc:docMk/>
            <pc:sldMk cId="0" sldId="257"/>
            <ac:spMk id="17" creationId="{00000000-0000-0000-0000-000000000000}"/>
          </ac:spMkLst>
        </pc:spChg>
        <pc:spChg chg="mod">
          <ac:chgData name="Zarándy Zita" userId="74efbeb4-003a-420d-b730-606d9f4c7f2c" providerId="ADAL" clId="{B3D2F251-BFC7-49E3-A08E-E6A051C778C2}" dt="2026-07-07T09:45:19.315" v="46" actId="790"/>
          <ac:spMkLst>
            <pc:docMk/>
            <pc:sldMk cId="0" sldId="257"/>
            <ac:spMk id="18" creationId="{00000000-0000-0000-0000-000000000000}"/>
          </ac:spMkLst>
        </pc:spChg>
        <pc:spChg chg="mod">
          <ac:chgData name="Zarándy Zita" userId="74efbeb4-003a-420d-b730-606d9f4c7f2c" providerId="ADAL" clId="{B3D2F251-BFC7-49E3-A08E-E6A051C778C2}" dt="2026-07-07T09:45:19.315" v="46" actId="790"/>
          <ac:spMkLst>
            <pc:docMk/>
            <pc:sldMk cId="0" sldId="257"/>
            <ac:spMk id="19" creationId="{00000000-0000-0000-0000-000000000000}"/>
          </ac:spMkLst>
        </pc:spChg>
        <pc:spChg chg="mod">
          <ac:chgData name="Zarándy Zita" userId="74efbeb4-003a-420d-b730-606d9f4c7f2c" providerId="ADAL" clId="{B3D2F251-BFC7-49E3-A08E-E6A051C778C2}" dt="2026-07-07T09:45:19.315" v="46" actId="790"/>
          <ac:spMkLst>
            <pc:docMk/>
            <pc:sldMk cId="0" sldId="257"/>
            <ac:spMk id="24" creationId="{00000000-0000-0000-0000-000000000000}"/>
          </ac:spMkLst>
        </pc:spChg>
        <pc:spChg chg="mod">
          <ac:chgData name="Zarándy Zita" userId="74efbeb4-003a-420d-b730-606d9f4c7f2c" providerId="ADAL" clId="{B3D2F251-BFC7-49E3-A08E-E6A051C778C2}" dt="2026-07-07T09:45:19.315" v="46" actId="790"/>
          <ac:spMkLst>
            <pc:docMk/>
            <pc:sldMk cId="0" sldId="257"/>
            <ac:spMk id="29" creationId="{00000000-0000-0000-0000-000000000000}"/>
          </ac:spMkLst>
        </pc:spChg>
      </pc:sldChg>
      <pc:sldChg chg="modSp mod">
        <pc:chgData name="Zarándy Zita" userId="74efbeb4-003a-420d-b730-606d9f4c7f2c" providerId="ADAL" clId="{B3D2F251-BFC7-49E3-A08E-E6A051C778C2}" dt="2026-07-07T09:45:19.315" v="46" actId="790"/>
        <pc:sldMkLst>
          <pc:docMk/>
          <pc:sldMk cId="0" sldId="259"/>
        </pc:sldMkLst>
        <pc:spChg chg="mod">
          <ac:chgData name="Zarándy Zita" userId="74efbeb4-003a-420d-b730-606d9f4c7f2c" providerId="ADAL" clId="{B3D2F251-BFC7-49E3-A08E-E6A051C778C2}" dt="2026-07-07T09:45:19.315" v="46" actId="790"/>
          <ac:spMkLst>
            <pc:docMk/>
            <pc:sldMk cId="0" sldId="259"/>
            <ac:spMk id="6" creationId="{00000000-0000-0000-0000-000000000000}"/>
          </ac:spMkLst>
        </pc:spChg>
        <pc:spChg chg="mod">
          <ac:chgData name="Zarándy Zita" userId="74efbeb4-003a-420d-b730-606d9f4c7f2c" providerId="ADAL" clId="{B3D2F251-BFC7-49E3-A08E-E6A051C778C2}" dt="2026-07-07T09:45:19.315" v="46" actId="790"/>
          <ac:spMkLst>
            <pc:docMk/>
            <pc:sldMk cId="0" sldId="259"/>
            <ac:spMk id="10" creationId="{00000000-0000-0000-0000-000000000000}"/>
          </ac:spMkLst>
        </pc:spChg>
        <pc:spChg chg="mod">
          <ac:chgData name="Zarándy Zita" userId="74efbeb4-003a-420d-b730-606d9f4c7f2c" providerId="ADAL" clId="{B3D2F251-BFC7-49E3-A08E-E6A051C778C2}" dt="2026-07-07T09:45:19.315" v="46" actId="790"/>
          <ac:spMkLst>
            <pc:docMk/>
            <pc:sldMk cId="0" sldId="259"/>
            <ac:spMk id="11" creationId="{00000000-0000-0000-0000-000000000000}"/>
          </ac:spMkLst>
        </pc:spChg>
        <pc:spChg chg="mod">
          <ac:chgData name="Zarándy Zita" userId="74efbeb4-003a-420d-b730-606d9f4c7f2c" providerId="ADAL" clId="{B3D2F251-BFC7-49E3-A08E-E6A051C778C2}" dt="2026-07-07T09:45:19.315" v="46" actId="790"/>
          <ac:spMkLst>
            <pc:docMk/>
            <pc:sldMk cId="0" sldId="259"/>
            <ac:spMk id="12" creationId="{00000000-0000-0000-0000-000000000000}"/>
          </ac:spMkLst>
        </pc:spChg>
        <pc:spChg chg="mod">
          <ac:chgData name="Zarándy Zita" userId="74efbeb4-003a-420d-b730-606d9f4c7f2c" providerId="ADAL" clId="{B3D2F251-BFC7-49E3-A08E-E6A051C778C2}" dt="2026-07-07T09:44:14.419" v="2" actId="1076"/>
          <ac:spMkLst>
            <pc:docMk/>
            <pc:sldMk cId="0" sldId="259"/>
            <ac:spMk id="13" creationId="{00000000-0000-0000-0000-000000000000}"/>
          </ac:spMkLst>
        </pc:spChg>
        <pc:spChg chg="mod">
          <ac:chgData name="Zarándy Zita" userId="74efbeb4-003a-420d-b730-606d9f4c7f2c" providerId="ADAL" clId="{B3D2F251-BFC7-49E3-A08E-E6A051C778C2}" dt="2026-07-07T09:45:19.315" v="46" actId="790"/>
          <ac:spMkLst>
            <pc:docMk/>
            <pc:sldMk cId="0" sldId="259"/>
            <ac:spMk id="14" creationId="{00000000-0000-0000-0000-000000000000}"/>
          </ac:spMkLst>
        </pc:spChg>
        <pc:spChg chg="mod">
          <ac:chgData name="Zarándy Zita" userId="74efbeb4-003a-420d-b730-606d9f4c7f2c" providerId="ADAL" clId="{B3D2F251-BFC7-49E3-A08E-E6A051C778C2}" dt="2026-07-07T09:45:19.315" v="46" actId="790"/>
          <ac:spMkLst>
            <pc:docMk/>
            <pc:sldMk cId="0" sldId="259"/>
            <ac:spMk id="15" creationId="{00000000-0000-0000-0000-000000000000}"/>
          </ac:spMkLst>
        </pc:spChg>
        <pc:spChg chg="mod">
          <ac:chgData name="Zarándy Zita" userId="74efbeb4-003a-420d-b730-606d9f4c7f2c" providerId="ADAL" clId="{B3D2F251-BFC7-49E3-A08E-E6A051C778C2}" dt="2026-07-07T09:45:19.315" v="46" actId="790"/>
          <ac:spMkLst>
            <pc:docMk/>
            <pc:sldMk cId="0" sldId="259"/>
            <ac:spMk id="17" creationId="{00000000-0000-0000-0000-000000000000}"/>
          </ac:spMkLst>
        </pc:spChg>
        <pc:spChg chg="mod">
          <ac:chgData name="Zarándy Zita" userId="74efbeb4-003a-420d-b730-606d9f4c7f2c" providerId="ADAL" clId="{B3D2F251-BFC7-49E3-A08E-E6A051C778C2}" dt="2026-07-07T09:45:19.315" v="46" actId="790"/>
          <ac:spMkLst>
            <pc:docMk/>
            <pc:sldMk cId="0" sldId="259"/>
            <ac:spMk id="18" creationId="{00000000-0000-0000-0000-000000000000}"/>
          </ac:spMkLst>
        </pc:spChg>
        <pc:spChg chg="mod">
          <ac:chgData name="Zarándy Zita" userId="74efbeb4-003a-420d-b730-606d9f4c7f2c" providerId="ADAL" clId="{B3D2F251-BFC7-49E3-A08E-E6A051C778C2}" dt="2026-07-07T09:45:19.315" v="46" actId="790"/>
          <ac:spMkLst>
            <pc:docMk/>
            <pc:sldMk cId="0" sldId="259"/>
            <ac:spMk id="19" creationId="{00000000-0000-0000-0000-000000000000}"/>
          </ac:spMkLst>
        </pc:spChg>
        <pc:spChg chg="mod">
          <ac:chgData name="Zarándy Zita" userId="74efbeb4-003a-420d-b730-606d9f4c7f2c" providerId="ADAL" clId="{B3D2F251-BFC7-49E3-A08E-E6A051C778C2}" dt="2026-07-07T09:45:19.315" v="46" actId="790"/>
          <ac:spMkLst>
            <pc:docMk/>
            <pc:sldMk cId="0" sldId="259"/>
            <ac:spMk id="21" creationId="{00000000-0000-0000-0000-000000000000}"/>
          </ac:spMkLst>
        </pc:spChg>
      </pc:sldChg>
      <pc:sldChg chg="modSp mod">
        <pc:chgData name="Zarándy Zita" userId="74efbeb4-003a-420d-b730-606d9f4c7f2c" providerId="ADAL" clId="{B3D2F251-BFC7-49E3-A08E-E6A051C778C2}" dt="2026-07-07T09:45:19.315" v="46" actId="790"/>
        <pc:sldMkLst>
          <pc:docMk/>
          <pc:sldMk cId="0" sldId="260"/>
        </pc:sldMkLst>
        <pc:spChg chg="mod">
          <ac:chgData name="Zarándy Zita" userId="74efbeb4-003a-420d-b730-606d9f4c7f2c" providerId="ADAL" clId="{B3D2F251-BFC7-49E3-A08E-E6A051C778C2}" dt="2026-07-07T09:45:19.315" v="46" actId="790"/>
          <ac:spMkLst>
            <pc:docMk/>
            <pc:sldMk cId="0" sldId="260"/>
            <ac:spMk id="2" creationId="{00000000-0000-0000-0000-000000000000}"/>
          </ac:spMkLst>
        </pc:spChg>
        <pc:spChg chg="mod">
          <ac:chgData name="Zarándy Zita" userId="74efbeb4-003a-420d-b730-606d9f4c7f2c" providerId="ADAL" clId="{B3D2F251-BFC7-49E3-A08E-E6A051C778C2}" dt="2026-07-07T09:45:19.315" v="46" actId="790"/>
          <ac:spMkLst>
            <pc:docMk/>
            <pc:sldMk cId="0" sldId="260"/>
            <ac:spMk id="4" creationId="{00000000-0000-0000-0000-000000000000}"/>
          </ac:spMkLst>
        </pc:spChg>
        <pc:spChg chg="mod">
          <ac:chgData name="Zarándy Zita" userId="74efbeb4-003a-420d-b730-606d9f4c7f2c" providerId="ADAL" clId="{B3D2F251-BFC7-49E3-A08E-E6A051C778C2}" dt="2026-07-07T09:45:19.315" v="46" actId="790"/>
          <ac:spMkLst>
            <pc:docMk/>
            <pc:sldMk cId="0" sldId="260"/>
            <ac:spMk id="5" creationId="{00000000-0000-0000-0000-000000000000}"/>
          </ac:spMkLst>
        </pc:spChg>
        <pc:spChg chg="mod">
          <ac:chgData name="Zarándy Zita" userId="74efbeb4-003a-420d-b730-606d9f4c7f2c" providerId="ADAL" clId="{B3D2F251-BFC7-49E3-A08E-E6A051C778C2}" dt="2026-07-07T09:45:19.315" v="46" actId="790"/>
          <ac:spMkLst>
            <pc:docMk/>
            <pc:sldMk cId="0" sldId="260"/>
            <ac:spMk id="8" creationId="{00000000-0000-0000-0000-000000000000}"/>
          </ac:spMkLst>
        </pc:spChg>
        <pc:spChg chg="mod">
          <ac:chgData name="Zarándy Zita" userId="74efbeb4-003a-420d-b730-606d9f4c7f2c" providerId="ADAL" clId="{B3D2F251-BFC7-49E3-A08E-E6A051C778C2}" dt="2026-07-07T09:45:19.315" v="46" actId="790"/>
          <ac:spMkLst>
            <pc:docMk/>
            <pc:sldMk cId="0" sldId="260"/>
            <ac:spMk id="14" creationId="{00000000-0000-0000-0000-000000000000}"/>
          </ac:spMkLst>
        </pc:spChg>
        <pc:spChg chg="mod">
          <ac:chgData name="Zarándy Zita" userId="74efbeb4-003a-420d-b730-606d9f4c7f2c" providerId="ADAL" clId="{B3D2F251-BFC7-49E3-A08E-E6A051C778C2}" dt="2026-07-07T09:45:19.315" v="46" actId="790"/>
          <ac:spMkLst>
            <pc:docMk/>
            <pc:sldMk cId="0" sldId="260"/>
            <ac:spMk id="17" creationId="{00000000-0000-0000-0000-000000000000}"/>
          </ac:spMkLst>
        </pc:spChg>
        <pc:spChg chg="mod">
          <ac:chgData name="Zarándy Zita" userId="74efbeb4-003a-420d-b730-606d9f4c7f2c" providerId="ADAL" clId="{B3D2F251-BFC7-49E3-A08E-E6A051C778C2}" dt="2026-07-07T09:45:19.315" v="46" actId="790"/>
          <ac:spMkLst>
            <pc:docMk/>
            <pc:sldMk cId="0" sldId="260"/>
            <ac:spMk id="18" creationId="{00000000-0000-0000-0000-000000000000}"/>
          </ac:spMkLst>
        </pc:spChg>
        <pc:spChg chg="mod">
          <ac:chgData name="Zarándy Zita" userId="74efbeb4-003a-420d-b730-606d9f4c7f2c" providerId="ADAL" clId="{B3D2F251-BFC7-49E3-A08E-E6A051C778C2}" dt="2026-07-07T09:45:19.315" v="46" actId="790"/>
          <ac:spMkLst>
            <pc:docMk/>
            <pc:sldMk cId="0" sldId="260"/>
            <ac:spMk id="20" creationId="{00000000-0000-0000-0000-000000000000}"/>
          </ac:spMkLst>
        </pc:spChg>
        <pc:spChg chg="mod">
          <ac:chgData name="Zarándy Zita" userId="74efbeb4-003a-420d-b730-606d9f4c7f2c" providerId="ADAL" clId="{B3D2F251-BFC7-49E3-A08E-E6A051C778C2}" dt="2026-07-07T09:45:19.315" v="46" actId="790"/>
          <ac:spMkLst>
            <pc:docMk/>
            <pc:sldMk cId="0" sldId="260"/>
            <ac:spMk id="21" creationId="{00000000-0000-0000-0000-000000000000}"/>
          </ac:spMkLst>
        </pc:spChg>
        <pc:spChg chg="mod">
          <ac:chgData name="Zarándy Zita" userId="74efbeb4-003a-420d-b730-606d9f4c7f2c" providerId="ADAL" clId="{B3D2F251-BFC7-49E3-A08E-E6A051C778C2}" dt="2026-07-07T09:45:19.315" v="46" actId="790"/>
          <ac:spMkLst>
            <pc:docMk/>
            <pc:sldMk cId="0" sldId="260"/>
            <ac:spMk id="22" creationId="{00000000-0000-0000-0000-000000000000}"/>
          </ac:spMkLst>
        </pc:spChg>
        <pc:spChg chg="mod">
          <ac:chgData name="Zarándy Zita" userId="74efbeb4-003a-420d-b730-606d9f4c7f2c" providerId="ADAL" clId="{B3D2F251-BFC7-49E3-A08E-E6A051C778C2}" dt="2026-07-07T09:45:12.969" v="45" actId="20577"/>
          <ac:spMkLst>
            <pc:docMk/>
            <pc:sldMk cId="0" sldId="260"/>
            <ac:spMk id="28" creationId="{383F0DF0-EACC-C82A-08F0-0E7A584752B2}"/>
          </ac:spMkLst>
        </pc:spChg>
      </pc:sldChg>
      <pc:sldChg chg="modSp mod">
        <pc:chgData name="Zarándy Zita" userId="74efbeb4-003a-420d-b730-606d9f4c7f2c" providerId="ADAL" clId="{B3D2F251-BFC7-49E3-A08E-E6A051C778C2}" dt="2026-07-07T09:45:19.315" v="46" actId="790"/>
        <pc:sldMkLst>
          <pc:docMk/>
          <pc:sldMk cId="0" sldId="261"/>
        </pc:sldMkLst>
        <pc:spChg chg="mod">
          <ac:chgData name="Zarándy Zita" userId="74efbeb4-003a-420d-b730-606d9f4c7f2c" providerId="ADAL" clId="{B3D2F251-BFC7-49E3-A08E-E6A051C778C2}" dt="2026-07-07T09:45:19.315" v="46" actId="790"/>
          <ac:spMkLst>
            <pc:docMk/>
            <pc:sldMk cId="0" sldId="261"/>
            <ac:spMk id="5" creationId="{00000000-0000-0000-0000-000000000000}"/>
          </ac:spMkLst>
        </pc:spChg>
        <pc:spChg chg="mod">
          <ac:chgData name="Zarándy Zita" userId="74efbeb4-003a-420d-b730-606d9f4c7f2c" providerId="ADAL" clId="{B3D2F251-BFC7-49E3-A08E-E6A051C778C2}" dt="2026-07-07T09:45:19.315" v="46" actId="790"/>
          <ac:spMkLst>
            <pc:docMk/>
            <pc:sldMk cId="0" sldId="261"/>
            <ac:spMk id="6" creationId="{00000000-0000-0000-0000-000000000000}"/>
          </ac:spMkLst>
        </pc:spChg>
        <pc:spChg chg="mod">
          <ac:chgData name="Zarándy Zita" userId="74efbeb4-003a-420d-b730-606d9f4c7f2c" providerId="ADAL" clId="{B3D2F251-BFC7-49E3-A08E-E6A051C778C2}" dt="2026-07-07T09:45:19.315" v="46" actId="790"/>
          <ac:spMkLst>
            <pc:docMk/>
            <pc:sldMk cId="0" sldId="261"/>
            <ac:spMk id="11" creationId="{00000000-0000-0000-0000-000000000000}"/>
          </ac:spMkLst>
        </pc:spChg>
        <pc:spChg chg="mod">
          <ac:chgData name="Zarándy Zita" userId="74efbeb4-003a-420d-b730-606d9f4c7f2c" providerId="ADAL" clId="{B3D2F251-BFC7-49E3-A08E-E6A051C778C2}" dt="2026-07-07T09:45:19.315" v="46" actId="790"/>
          <ac:spMkLst>
            <pc:docMk/>
            <pc:sldMk cId="0" sldId="261"/>
            <ac:spMk id="12" creationId="{00000000-0000-0000-0000-000000000000}"/>
          </ac:spMkLst>
        </pc:spChg>
        <pc:spChg chg="mod">
          <ac:chgData name="Zarándy Zita" userId="74efbeb4-003a-420d-b730-606d9f4c7f2c" providerId="ADAL" clId="{B3D2F251-BFC7-49E3-A08E-E6A051C778C2}" dt="2026-07-07T09:45:19.315" v="46" actId="790"/>
          <ac:spMkLst>
            <pc:docMk/>
            <pc:sldMk cId="0" sldId="261"/>
            <ac:spMk id="13" creationId="{00000000-0000-0000-0000-000000000000}"/>
          </ac:spMkLst>
        </pc:spChg>
        <pc:spChg chg="mod">
          <ac:chgData name="Zarándy Zita" userId="74efbeb4-003a-420d-b730-606d9f4c7f2c" providerId="ADAL" clId="{B3D2F251-BFC7-49E3-A08E-E6A051C778C2}" dt="2026-07-07T09:45:19.315" v="46" actId="790"/>
          <ac:spMkLst>
            <pc:docMk/>
            <pc:sldMk cId="0" sldId="261"/>
            <ac:spMk id="16" creationId="{00000000-0000-0000-0000-000000000000}"/>
          </ac:spMkLst>
        </pc:spChg>
        <pc:spChg chg="mod">
          <ac:chgData name="Zarándy Zita" userId="74efbeb4-003a-420d-b730-606d9f4c7f2c" providerId="ADAL" clId="{B3D2F251-BFC7-49E3-A08E-E6A051C778C2}" dt="2026-07-07T09:45:19.315" v="46" actId="790"/>
          <ac:spMkLst>
            <pc:docMk/>
            <pc:sldMk cId="0" sldId="261"/>
            <ac:spMk id="19" creationId="{00000000-0000-0000-0000-000000000000}"/>
          </ac:spMkLst>
        </pc:spChg>
        <pc:spChg chg="mod">
          <ac:chgData name="Zarándy Zita" userId="74efbeb4-003a-420d-b730-606d9f4c7f2c" providerId="ADAL" clId="{B3D2F251-BFC7-49E3-A08E-E6A051C778C2}" dt="2026-07-07T09:45:19.315" v="46" actId="790"/>
          <ac:spMkLst>
            <pc:docMk/>
            <pc:sldMk cId="0" sldId="261"/>
            <ac:spMk id="20" creationId="{00000000-0000-0000-0000-000000000000}"/>
          </ac:spMkLst>
        </pc:spChg>
        <pc:spChg chg="mod">
          <ac:chgData name="Zarándy Zita" userId="74efbeb4-003a-420d-b730-606d9f4c7f2c" providerId="ADAL" clId="{B3D2F251-BFC7-49E3-A08E-E6A051C778C2}" dt="2026-07-07T09:45:19.315" v="46" actId="790"/>
          <ac:spMkLst>
            <pc:docMk/>
            <pc:sldMk cId="0" sldId="261"/>
            <ac:spMk id="21" creationId="{00000000-0000-0000-0000-000000000000}"/>
          </ac:spMkLst>
        </pc:spChg>
        <pc:spChg chg="mod">
          <ac:chgData name="Zarándy Zita" userId="74efbeb4-003a-420d-b730-606d9f4c7f2c" providerId="ADAL" clId="{B3D2F251-BFC7-49E3-A08E-E6A051C778C2}" dt="2026-07-07T09:45:19.315" v="46" actId="790"/>
          <ac:spMkLst>
            <pc:docMk/>
            <pc:sldMk cId="0" sldId="261"/>
            <ac:spMk id="23" creationId="{00000000-0000-0000-0000-000000000000}"/>
          </ac:spMkLst>
        </pc:spChg>
      </pc:sldChg>
      <pc:sldChg chg="modSp mod">
        <pc:chgData name="Zarándy Zita" userId="74efbeb4-003a-420d-b730-606d9f4c7f2c" providerId="ADAL" clId="{B3D2F251-BFC7-49E3-A08E-E6A051C778C2}" dt="2026-07-07T09:45:19.315" v="46" actId="790"/>
        <pc:sldMkLst>
          <pc:docMk/>
          <pc:sldMk cId="3248230652" sldId="264"/>
        </pc:sldMkLst>
        <pc:spChg chg="mod">
          <ac:chgData name="Zarándy Zita" userId="74efbeb4-003a-420d-b730-606d9f4c7f2c" providerId="ADAL" clId="{B3D2F251-BFC7-49E3-A08E-E6A051C778C2}" dt="2026-07-07T09:45:19.315" v="46" actId="790"/>
          <ac:spMkLst>
            <pc:docMk/>
            <pc:sldMk cId="3248230652" sldId="264"/>
            <ac:spMk id="4" creationId="{6C642AD8-A3D3-4F24-98C0-87CCD4B2E6E6}"/>
          </ac:spMkLst>
        </pc:spChg>
        <pc:spChg chg="mod">
          <ac:chgData name="Zarándy Zita" userId="74efbeb4-003a-420d-b730-606d9f4c7f2c" providerId="ADAL" clId="{B3D2F251-BFC7-49E3-A08E-E6A051C778C2}" dt="2026-07-07T09:45:19.315" v="46" actId="790"/>
          <ac:spMkLst>
            <pc:docMk/>
            <pc:sldMk cId="3248230652" sldId="264"/>
            <ac:spMk id="5" creationId="{DB839642-D3D3-49AF-9706-46DB9E8B02DF}"/>
          </ac:spMkLst>
        </pc:spChg>
      </pc:sldChg>
      <pc:sldChg chg="modSp mod modAnim">
        <pc:chgData name="Zarándy Zita" userId="74efbeb4-003a-420d-b730-606d9f4c7f2c" providerId="ADAL" clId="{B3D2F251-BFC7-49E3-A08E-E6A051C778C2}" dt="2026-07-07T09:45:19.315" v="46" actId="790"/>
        <pc:sldMkLst>
          <pc:docMk/>
          <pc:sldMk cId="0" sldId="289"/>
        </pc:sldMkLst>
        <pc:spChg chg="mod">
          <ac:chgData name="Zarándy Zita" userId="74efbeb4-003a-420d-b730-606d9f4c7f2c" providerId="ADAL" clId="{B3D2F251-BFC7-49E3-A08E-E6A051C778C2}" dt="2026-07-07T09:45:19.315" v="46" actId="790"/>
          <ac:spMkLst>
            <pc:docMk/>
            <pc:sldMk cId="0" sldId="289"/>
            <ac:spMk id="2" creationId="{00000000-0000-0000-0000-000000000000}"/>
          </ac:spMkLst>
        </pc:spChg>
        <pc:spChg chg="mod">
          <ac:chgData name="Zarándy Zita" userId="74efbeb4-003a-420d-b730-606d9f4c7f2c" providerId="ADAL" clId="{B3D2F251-BFC7-49E3-A08E-E6A051C778C2}" dt="2026-07-07T09:45:19.315" v="46" actId="790"/>
          <ac:spMkLst>
            <pc:docMk/>
            <pc:sldMk cId="0" sldId="289"/>
            <ac:spMk id="12" creationId="{00000000-0000-0000-0000-000000000000}"/>
          </ac:spMkLst>
        </pc:spChg>
        <pc:spChg chg="mod">
          <ac:chgData name="Zarándy Zita" userId="74efbeb4-003a-420d-b730-606d9f4c7f2c" providerId="ADAL" clId="{B3D2F251-BFC7-49E3-A08E-E6A051C778C2}" dt="2026-07-07T09:45:19.315" v="46" actId="790"/>
          <ac:spMkLst>
            <pc:docMk/>
            <pc:sldMk cId="0" sldId="289"/>
            <ac:spMk id="13" creationId="{50138A22-0AC1-66DC-FBC6-F43B8342E0AB}"/>
          </ac:spMkLst>
        </pc:spChg>
        <pc:spChg chg="mod">
          <ac:chgData name="Zarándy Zita" userId="74efbeb4-003a-420d-b730-606d9f4c7f2c" providerId="ADAL" clId="{B3D2F251-BFC7-49E3-A08E-E6A051C778C2}" dt="2026-07-07T09:45:19.315" v="46" actId="790"/>
          <ac:spMkLst>
            <pc:docMk/>
            <pc:sldMk cId="0" sldId="289"/>
            <ac:spMk id="14" creationId="{9B4857C1-DE6D-72E6-25FE-94912EBAD702}"/>
          </ac:spMkLst>
        </pc:spChg>
        <pc:spChg chg="mod">
          <ac:chgData name="Zarándy Zita" userId="74efbeb4-003a-420d-b730-606d9f4c7f2c" providerId="ADAL" clId="{B3D2F251-BFC7-49E3-A08E-E6A051C778C2}" dt="2026-07-07T09:45:19.315" v="46" actId="790"/>
          <ac:spMkLst>
            <pc:docMk/>
            <pc:sldMk cId="0" sldId="289"/>
            <ac:spMk id="17" creationId="{615F5A0C-6901-C0B0-C388-BBEC232ED4DC}"/>
          </ac:spMkLst>
        </pc:spChg>
      </pc:sldChg>
      <pc:sldChg chg="modSp mod">
        <pc:chgData name="Zarándy Zita" userId="74efbeb4-003a-420d-b730-606d9f4c7f2c" providerId="ADAL" clId="{B3D2F251-BFC7-49E3-A08E-E6A051C778C2}" dt="2026-07-07T09:45:19.315" v="46" actId="790"/>
        <pc:sldMkLst>
          <pc:docMk/>
          <pc:sldMk cId="0" sldId="290"/>
        </pc:sldMkLst>
        <pc:spChg chg="mod">
          <ac:chgData name="Zarándy Zita" userId="74efbeb4-003a-420d-b730-606d9f4c7f2c" providerId="ADAL" clId="{B3D2F251-BFC7-49E3-A08E-E6A051C778C2}" dt="2026-07-07T09:45:19.315" v="46" actId="790"/>
          <ac:spMkLst>
            <pc:docMk/>
            <pc:sldMk cId="0" sldId="290"/>
            <ac:spMk id="2" creationId="{00000000-0000-0000-0000-000000000000}"/>
          </ac:spMkLst>
        </pc:spChg>
        <pc:spChg chg="mod">
          <ac:chgData name="Zarándy Zita" userId="74efbeb4-003a-420d-b730-606d9f4c7f2c" providerId="ADAL" clId="{B3D2F251-BFC7-49E3-A08E-E6A051C778C2}" dt="2026-07-07T09:45:19.315" v="46" actId="790"/>
          <ac:spMkLst>
            <pc:docMk/>
            <pc:sldMk cId="0" sldId="290"/>
            <ac:spMk id="5" creationId="{00000000-0000-0000-0000-000000000000}"/>
          </ac:spMkLst>
        </pc:spChg>
        <pc:spChg chg="mod">
          <ac:chgData name="Zarándy Zita" userId="74efbeb4-003a-420d-b730-606d9f4c7f2c" providerId="ADAL" clId="{B3D2F251-BFC7-49E3-A08E-E6A051C778C2}" dt="2026-07-07T09:45:19.315" v="46" actId="790"/>
          <ac:spMkLst>
            <pc:docMk/>
            <pc:sldMk cId="0" sldId="290"/>
            <ac:spMk id="11" creationId="{00000000-0000-0000-0000-000000000000}"/>
          </ac:spMkLst>
        </pc:spChg>
        <pc:spChg chg="mod">
          <ac:chgData name="Zarándy Zita" userId="74efbeb4-003a-420d-b730-606d9f4c7f2c" providerId="ADAL" clId="{B3D2F251-BFC7-49E3-A08E-E6A051C778C2}" dt="2026-07-07T09:45:19.315" v="46" actId="790"/>
          <ac:spMkLst>
            <pc:docMk/>
            <pc:sldMk cId="0" sldId="290"/>
            <ac:spMk id="13" creationId="{00000000-0000-0000-0000-000000000000}"/>
          </ac:spMkLst>
        </pc:spChg>
        <pc:spChg chg="mod">
          <ac:chgData name="Zarándy Zita" userId="74efbeb4-003a-420d-b730-606d9f4c7f2c" providerId="ADAL" clId="{B3D2F251-BFC7-49E3-A08E-E6A051C778C2}" dt="2026-07-07T09:45:19.315" v="46" actId="790"/>
          <ac:spMkLst>
            <pc:docMk/>
            <pc:sldMk cId="0" sldId="290"/>
            <ac:spMk id="15" creationId="{00000000-0000-0000-0000-000000000000}"/>
          </ac:spMkLst>
        </pc:spChg>
        <pc:spChg chg="mod">
          <ac:chgData name="Zarándy Zita" userId="74efbeb4-003a-420d-b730-606d9f4c7f2c" providerId="ADAL" clId="{B3D2F251-BFC7-49E3-A08E-E6A051C778C2}" dt="2026-07-07T09:45:19.315" v="46" actId="790"/>
          <ac:spMkLst>
            <pc:docMk/>
            <pc:sldMk cId="0" sldId="290"/>
            <ac:spMk id="21" creationId="{00000000-0000-0000-0000-000000000000}"/>
          </ac:spMkLst>
        </pc:spChg>
        <pc:spChg chg="mod">
          <ac:chgData name="Zarándy Zita" userId="74efbeb4-003a-420d-b730-606d9f4c7f2c" providerId="ADAL" clId="{B3D2F251-BFC7-49E3-A08E-E6A051C778C2}" dt="2026-07-07T09:45:19.315" v="46" actId="790"/>
          <ac:spMkLst>
            <pc:docMk/>
            <pc:sldMk cId="0" sldId="290"/>
            <ac:spMk id="23" creationId="{00000000-0000-0000-0000-000000000000}"/>
          </ac:spMkLst>
        </pc:spChg>
        <pc:spChg chg="mod">
          <ac:chgData name="Zarándy Zita" userId="74efbeb4-003a-420d-b730-606d9f4c7f2c" providerId="ADAL" clId="{B3D2F251-BFC7-49E3-A08E-E6A051C778C2}" dt="2026-07-07T09:45:19.315" v="46" actId="790"/>
          <ac:spMkLst>
            <pc:docMk/>
            <pc:sldMk cId="0" sldId="290"/>
            <ac:spMk id="26" creationId="{00000000-0000-0000-0000-000000000000}"/>
          </ac:spMkLst>
        </pc:spChg>
        <pc:spChg chg="mod">
          <ac:chgData name="Zarándy Zita" userId="74efbeb4-003a-420d-b730-606d9f4c7f2c" providerId="ADAL" clId="{B3D2F251-BFC7-49E3-A08E-E6A051C778C2}" dt="2026-07-07T09:45:19.315" v="46" actId="790"/>
          <ac:spMkLst>
            <pc:docMk/>
            <pc:sldMk cId="0" sldId="290"/>
            <ac:spMk id="32" creationId="{5D03CD48-6E4C-3BE6-EADA-F922F3BA26B2}"/>
          </ac:spMkLst>
        </pc:spChg>
        <pc:spChg chg="mod">
          <ac:chgData name="Zarándy Zita" userId="74efbeb4-003a-420d-b730-606d9f4c7f2c" providerId="ADAL" clId="{B3D2F251-BFC7-49E3-A08E-E6A051C778C2}" dt="2026-07-07T09:45:19.315" v="46" actId="790"/>
          <ac:spMkLst>
            <pc:docMk/>
            <pc:sldMk cId="0" sldId="290"/>
            <ac:spMk id="33" creationId="{E5292829-749F-9D89-08E7-9B60A81201B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>
            <a:extLst>
              <a:ext uri="{FF2B5EF4-FFF2-40B4-BE49-F238E27FC236}">
                <a16:creationId xmlns:a16="http://schemas.microsoft.com/office/drawing/2014/main" id="{D13F5568-A128-4408-A2AA-6003518783E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03C1437F-473F-438F-BFE6-F380F4D7B8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A4E5E5-E8A1-43D3-A7D1-CA55F205380F}" type="datetimeFigureOut">
              <a:rPr lang="hu-HU" smtClean="0"/>
              <a:t>2026. 07. 07.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EDA6E18F-D34D-4838-9DFE-D8061C2A225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hu-HU"/>
              <a:t>PREZENTÁCIÓ CÍM FEJEZET CÍM</a:t>
            </a:r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830AA6BB-CAF3-4C4A-914D-6DFFC54F02A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70EF1A-51E4-4FD6-B7FA-731003C0F06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16304024"/>
      </p:ext>
    </p:extLst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CCA316-0123-4387-8862-50A9C2E11E45}" type="datetimeFigureOut">
              <a:rPr lang="hu-HU" smtClean="0"/>
              <a:t>2026. 07. 07.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hu-HU"/>
              <a:t>PREZENTÁCIÓ CÍM FEJEZET CÍM</a:t>
            </a:r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CCAEA3-5C3F-49E9-9839-DA0144C1118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5564368"/>
      </p:ext>
    </p:extLst>
  </p:cSld>
  <p:clrMap bg1="lt1" tx1="dk1" bg2="lt2" tx2="dk2" accent1="accent1" accent2="accent2" accent3="accent3" accent4="accent4" accent5="accent5" accent6="accent6" hlink="hlink" folHlink="folHlink"/>
  <p:hf sldNum="0" hdr="0" dt="0"/>
  <p:notesStyle>
    <a:lvl1pPr marL="0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354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709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063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417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1771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126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0480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4834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yitóké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églalap 9">
            <a:extLst>
              <a:ext uri="{FF2B5EF4-FFF2-40B4-BE49-F238E27FC236}">
                <a16:creationId xmlns:a16="http://schemas.microsoft.com/office/drawing/2014/main" id="{EB4B852E-9596-4FA3-9A21-A86247AB7546}"/>
              </a:ext>
            </a:extLst>
          </p:cNvPr>
          <p:cNvSpPr/>
          <p:nvPr userDrawn="1"/>
        </p:nvSpPr>
        <p:spPr>
          <a:xfrm>
            <a:off x="0" y="0"/>
            <a:ext cx="24382413" cy="13716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6789EF5D-0CFD-4E47-8102-BFC3C1DD2CF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7444" y="591670"/>
            <a:ext cx="16607526" cy="12530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8664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343" userDrawn="1">
          <p15:clr>
            <a:srgbClr val="FBAE40"/>
          </p15:clr>
        </p15:guide>
        <p15:guide id="2" pos="9993" userDrawn="1">
          <p15:clr>
            <a:srgbClr val="FBAE40"/>
          </p15:clr>
        </p15:guide>
        <p15:guide id="3" orient="horz" pos="2619" userDrawn="1">
          <p15:clr>
            <a:srgbClr val="FBAE40"/>
          </p15:clr>
        </p15:guide>
        <p15:guide id="4" orient="horz" pos="597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yitókép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églalap 9">
            <a:extLst>
              <a:ext uri="{FF2B5EF4-FFF2-40B4-BE49-F238E27FC236}">
                <a16:creationId xmlns:a16="http://schemas.microsoft.com/office/drawing/2014/main" id="{EB4B852E-9596-4FA3-9A21-A86247AB7546}"/>
              </a:ext>
            </a:extLst>
          </p:cNvPr>
          <p:cNvSpPr/>
          <p:nvPr userDrawn="1"/>
        </p:nvSpPr>
        <p:spPr>
          <a:xfrm>
            <a:off x="0" y="0"/>
            <a:ext cx="24382413" cy="13716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047801" y="9100714"/>
            <a:ext cx="18286810" cy="2564151"/>
          </a:xfrm>
        </p:spPr>
        <p:txBody>
          <a:bodyPr anchor="ctr">
            <a:normAutofit/>
          </a:bodyPr>
          <a:lstStyle>
            <a:lvl1pPr algn="ctr">
              <a:defRPr sz="6600">
                <a:solidFill>
                  <a:schemeClr val="bg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defRPr>
            </a:lvl1pPr>
          </a:lstStyle>
          <a:p>
            <a:r>
              <a:rPr lang="hu-HU" dirty="0"/>
              <a:t>PREZENTÁCIÓ CÍME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33413" y="12250290"/>
            <a:ext cx="14033563" cy="9591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</a:defRPr>
            </a:lvl1pPr>
            <a:lvl2pPr marL="914354" indent="0" algn="ctr">
              <a:buNone/>
              <a:defRPr sz="4000"/>
            </a:lvl2pPr>
            <a:lvl3pPr marL="1828709" indent="0" algn="ctr">
              <a:buNone/>
              <a:defRPr sz="3600"/>
            </a:lvl3pPr>
            <a:lvl4pPr marL="2743063" indent="0" algn="ctr">
              <a:buNone/>
              <a:defRPr sz="3200"/>
            </a:lvl4pPr>
            <a:lvl5pPr marL="3657417" indent="0" algn="ctr">
              <a:buNone/>
              <a:defRPr sz="3200"/>
            </a:lvl5pPr>
            <a:lvl6pPr marL="4571771" indent="0" algn="ctr">
              <a:buNone/>
              <a:defRPr sz="3200"/>
            </a:lvl6pPr>
            <a:lvl7pPr marL="5486126" indent="0" algn="ctr">
              <a:buNone/>
              <a:defRPr sz="3200"/>
            </a:lvl7pPr>
            <a:lvl8pPr marL="6400480" indent="0" algn="ctr">
              <a:buNone/>
              <a:defRPr sz="3200"/>
            </a:lvl8pPr>
            <a:lvl9pPr marL="7314834" indent="0" algn="ctr">
              <a:buNone/>
              <a:defRPr sz="3200"/>
            </a:lvl9pPr>
          </a:lstStyle>
          <a:p>
            <a:r>
              <a:rPr lang="hu-HU" dirty="0"/>
              <a:t>Prezentáló					Hely	</a:t>
            </a:r>
            <a:endParaRPr lang="en-US" dirty="0"/>
          </a:p>
        </p:txBody>
      </p:sp>
      <p:sp>
        <p:nvSpPr>
          <p:cNvPr id="31" name="Dátum helye 30">
            <a:extLst>
              <a:ext uri="{FF2B5EF4-FFF2-40B4-BE49-F238E27FC236}">
                <a16:creationId xmlns:a16="http://schemas.microsoft.com/office/drawing/2014/main" id="{0C06CE48-21AF-4993-BC96-4E7830C551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8226445" y="12558268"/>
            <a:ext cx="5486043" cy="730250"/>
          </a:xfrm>
        </p:spPr>
        <p:txBody>
          <a:bodyPr/>
          <a:lstStyle>
            <a:lvl1pPr algn="r">
              <a:defRPr sz="3200">
                <a:solidFill>
                  <a:schemeClr val="bg1"/>
                </a:solidFill>
              </a:defRPr>
            </a:lvl1pPr>
          </a:lstStyle>
          <a:p>
            <a:r>
              <a:rPr lang="hu-HU" dirty="0"/>
              <a:t>2021/09/15</a:t>
            </a:r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8175877F-458A-4D8D-92B3-B8F1D2298D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8197" y="812517"/>
            <a:ext cx="14033563" cy="10588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450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ap 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Élőláb helye 8">
            <a:extLst>
              <a:ext uri="{FF2B5EF4-FFF2-40B4-BE49-F238E27FC236}">
                <a16:creationId xmlns:a16="http://schemas.microsoft.com/office/drawing/2014/main" id="{4DFE71AD-8E0C-4521-BD21-324BFA2A3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hu-HU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PREZENTÁCIÓ CÍM </a:t>
            </a:r>
            <a:r>
              <a:rPr lang="hu-HU" dirty="0"/>
              <a:t>FEJEZET CÍM</a:t>
            </a:r>
          </a:p>
        </p:txBody>
      </p:sp>
    </p:spTree>
    <p:extLst>
      <p:ext uri="{BB962C8B-B14F-4D97-AF65-F5344CB8AC3E}">
        <p14:creationId xmlns:p14="http://schemas.microsoft.com/office/powerpoint/2010/main" val="26610136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858" userDrawn="1">
          <p15:clr>
            <a:srgbClr val="FBAE40"/>
          </p15:clr>
        </p15:guide>
        <p15:guide id="2" orient="horz" pos="847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jezetnyitó 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799292" y="5130165"/>
            <a:ext cx="21029831" cy="1626870"/>
          </a:xfrm>
        </p:spPr>
        <p:txBody>
          <a:bodyPr anchor="ctr">
            <a:normAutofit/>
          </a:bodyPr>
          <a:lstStyle>
            <a:lvl1pPr>
              <a:defRPr sz="990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defRPr>
            </a:lvl1pPr>
          </a:lstStyle>
          <a:p>
            <a:r>
              <a:rPr lang="en-US" dirty="0"/>
              <a:t>LOREM IPSUM</a:t>
            </a:r>
          </a:p>
        </p:txBody>
      </p:sp>
      <p:sp>
        <p:nvSpPr>
          <p:cNvPr id="3" name="Text Placeholder 2" hidden="1"/>
          <p:cNvSpPr>
            <a:spLocks noGrp="1"/>
          </p:cNvSpPr>
          <p:nvPr>
            <p:ph type="body" idx="1"/>
          </p:nvPr>
        </p:nvSpPr>
        <p:spPr>
          <a:xfrm>
            <a:off x="1663592" y="9178927"/>
            <a:ext cx="21029831" cy="3000374"/>
          </a:xfr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1pPr>
            <a:lvl2pPr marL="914354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2pPr>
            <a:lvl3pPr marL="1828709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3pPr>
            <a:lvl4pPr marL="2743063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4pPr>
            <a:lvl5pPr marL="3657417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5pPr>
            <a:lvl6pPr marL="4571771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6pPr>
            <a:lvl7pPr marL="5486126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7pPr>
            <a:lvl8pPr marL="640048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8pPr>
            <a:lvl9pPr marL="7314834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6775EB2D-8B21-4DD9-A1C7-C54EC51CD6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419312" y="4671835"/>
            <a:ext cx="2543530" cy="2543530"/>
          </a:xfrm>
          <a:prstGeom prst="rect">
            <a:avLst/>
          </a:prstGeom>
        </p:spPr>
      </p:pic>
      <p:sp>
        <p:nvSpPr>
          <p:cNvPr id="9" name="Élőláb helye 8">
            <a:extLst>
              <a:ext uri="{FF2B5EF4-FFF2-40B4-BE49-F238E27FC236}">
                <a16:creationId xmlns:a16="http://schemas.microsoft.com/office/drawing/2014/main" id="{34BBCA9E-5CFC-483C-A8BF-140AC2218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hu-HU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PREZENTÁCIÓ CÍM </a:t>
            </a:r>
            <a:r>
              <a:rPr lang="hu-HU"/>
              <a:t>FEJEZET CÍM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207529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Általános szövegezett 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474586" y="730251"/>
            <a:ext cx="21029831" cy="2651126"/>
          </a:xfrm>
        </p:spPr>
        <p:txBody>
          <a:bodyPr>
            <a:normAutofit/>
          </a:bodyPr>
          <a:lstStyle>
            <a:lvl1pPr>
              <a:defRPr sz="490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defRPr>
            </a:lvl1pPr>
          </a:lstStyle>
          <a:p>
            <a:r>
              <a:rPr lang="hu-HU" dirty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473792" y="3694176"/>
            <a:ext cx="21029831" cy="7672197"/>
          </a:xfrm>
        </p:spPr>
        <p:txBody>
          <a:bodyPr>
            <a:noAutofit/>
          </a:bodyPr>
          <a:lstStyle>
            <a:lvl1pPr marL="0" indent="0">
              <a:lnSpc>
                <a:spcPts val="6303"/>
              </a:lnSpc>
              <a:buNone/>
              <a:defRPr sz="4200" spc="-15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Ut </a:t>
            </a:r>
            <a:r>
              <a:rPr lang="en-US" dirty="0" err="1"/>
              <a:t>wisi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</a:t>
            </a:r>
            <a:r>
              <a:rPr lang="en-US" dirty="0" err="1"/>
              <a:t>exerci</a:t>
            </a:r>
            <a:r>
              <a:rPr lang="en-US" dirty="0"/>
              <a:t> </a:t>
            </a:r>
            <a:r>
              <a:rPr lang="en-US" dirty="0" err="1"/>
              <a:t>tation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endParaRPr lang="en-US" dirty="0"/>
          </a:p>
          <a:p>
            <a:pPr lvl="0"/>
            <a:r>
              <a:rPr lang="en-US" dirty="0"/>
              <a:t>Duis </a:t>
            </a:r>
            <a:r>
              <a:rPr lang="en-US" dirty="0" err="1"/>
              <a:t>autem</a:t>
            </a:r>
            <a:r>
              <a:rPr lang="en-US" dirty="0"/>
              <a:t> vel </a:t>
            </a:r>
            <a:r>
              <a:rPr lang="en-US" dirty="0" err="1"/>
              <a:t>eum</a:t>
            </a:r>
            <a:r>
              <a:rPr lang="en-US" dirty="0"/>
              <a:t> </a:t>
            </a:r>
            <a:r>
              <a:rPr lang="en-US" dirty="0" err="1"/>
              <a:t>iriure</a:t>
            </a:r>
            <a:r>
              <a:rPr lang="en-US" dirty="0"/>
              <a:t> dolor in </a:t>
            </a:r>
            <a:r>
              <a:rPr lang="en-US" dirty="0" err="1"/>
              <a:t>hendrerit</a:t>
            </a:r>
            <a:r>
              <a:rPr lang="en-US" dirty="0"/>
              <a:t> in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, vel </a:t>
            </a:r>
            <a:r>
              <a:rPr lang="en-US" dirty="0" err="1"/>
              <a:t>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 at </a:t>
            </a:r>
            <a:r>
              <a:rPr lang="en-US" dirty="0" err="1"/>
              <a:t>vero</a:t>
            </a:r>
            <a:r>
              <a:rPr lang="en-US" dirty="0"/>
              <a:t> eros et </a:t>
            </a:r>
            <a:r>
              <a:rPr lang="en-US" dirty="0" err="1"/>
              <a:t>accumsan</a:t>
            </a:r>
            <a:r>
              <a:rPr lang="en-US" dirty="0"/>
              <a:t> et </a:t>
            </a:r>
            <a:r>
              <a:rPr lang="en-US" dirty="0" err="1"/>
              <a:t>iusto</a:t>
            </a:r>
            <a:r>
              <a:rPr lang="en-US" dirty="0"/>
              <a:t> </a:t>
            </a:r>
            <a:r>
              <a:rPr lang="en-US" dirty="0" err="1"/>
              <a:t>odio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 qui </a:t>
            </a:r>
            <a:r>
              <a:rPr lang="en-US" dirty="0" err="1"/>
              <a:t>blandit</a:t>
            </a:r>
            <a:r>
              <a:rPr lang="en-US" dirty="0"/>
              <a:t>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luptatum</a:t>
            </a:r>
            <a:r>
              <a:rPr lang="en-US" dirty="0"/>
              <a:t> </a:t>
            </a:r>
            <a:r>
              <a:rPr lang="en-US" dirty="0" err="1"/>
              <a:t>zzril</a:t>
            </a:r>
            <a:r>
              <a:rPr lang="en-US" dirty="0"/>
              <a:t> </a:t>
            </a:r>
            <a:r>
              <a:rPr lang="en-US" dirty="0" err="1"/>
              <a:t>delenit</a:t>
            </a:r>
            <a:r>
              <a:rPr lang="en-US" dirty="0"/>
              <a:t> </a:t>
            </a:r>
            <a:r>
              <a:rPr lang="en-US" dirty="0" err="1"/>
              <a:t>augue</a:t>
            </a:r>
            <a:r>
              <a:rPr lang="en-US" dirty="0"/>
              <a:t> </a:t>
            </a:r>
            <a:r>
              <a:rPr lang="en-US" dirty="0" err="1"/>
              <a:t>duis</a:t>
            </a:r>
            <a:r>
              <a:rPr lang="en-US" dirty="0"/>
              <a:t> dolore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feugait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facilisi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cons </a:t>
            </a:r>
            <a:r>
              <a:rPr lang="en-US" dirty="0" err="1"/>
              <a:t>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Ut </a:t>
            </a:r>
            <a:r>
              <a:rPr lang="en-US" dirty="0" err="1"/>
              <a:t>wisi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</a:t>
            </a:r>
            <a:r>
              <a:rPr lang="en-US" dirty="0" err="1"/>
              <a:t>exerci</a:t>
            </a:r>
            <a:r>
              <a:rPr lang="en-US" dirty="0"/>
              <a:t> </a:t>
            </a:r>
            <a:r>
              <a:rPr lang="en-US" dirty="0" err="1"/>
              <a:t>tation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</p:txBody>
      </p:sp>
      <p:sp>
        <p:nvSpPr>
          <p:cNvPr id="9" name="Élőláb helye 8">
            <a:extLst>
              <a:ext uri="{FF2B5EF4-FFF2-40B4-BE49-F238E27FC236}">
                <a16:creationId xmlns:a16="http://schemas.microsoft.com/office/drawing/2014/main" id="{4DFE71AD-8E0C-4521-BD21-324BFA2A3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hu-HU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PREZENTÁCIÓ CÍM </a:t>
            </a:r>
            <a:r>
              <a:rPr lang="hu-HU" dirty="0"/>
              <a:t>FEJEZET CÍM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3F5D711F-7E1B-4722-A086-C5CD3049A6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22552" y="1403994"/>
            <a:ext cx="1241564" cy="1241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7118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ét oszlopos 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488033" y="730251"/>
            <a:ext cx="10514915" cy="2651126"/>
          </a:xfrm>
        </p:spPr>
        <p:txBody>
          <a:bodyPr>
            <a:normAutofit/>
          </a:bodyPr>
          <a:lstStyle>
            <a:lvl1pPr>
              <a:defRPr sz="490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defRPr>
            </a:lvl1pPr>
          </a:lstStyle>
          <a:p>
            <a:r>
              <a:rPr lang="en-US" dirty="0"/>
              <a:t>I. OSZLOP CÍM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487239" y="3694176"/>
            <a:ext cx="10515709" cy="7672197"/>
          </a:xfrm>
        </p:spPr>
        <p:txBody>
          <a:bodyPr>
            <a:noAutofit/>
          </a:bodyPr>
          <a:lstStyle>
            <a:lvl1pPr marL="0" indent="0">
              <a:lnSpc>
                <a:spcPts val="6303"/>
              </a:lnSpc>
              <a:buNone/>
              <a:defRPr sz="4200" spc="-15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Ut </a:t>
            </a:r>
            <a:r>
              <a:rPr lang="en-US" dirty="0" err="1"/>
              <a:t>wisi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</a:t>
            </a:r>
            <a:r>
              <a:rPr lang="en-US" dirty="0" err="1"/>
              <a:t>exerci</a:t>
            </a:r>
            <a:r>
              <a:rPr lang="en-US" dirty="0"/>
              <a:t> </a:t>
            </a:r>
            <a:r>
              <a:rPr lang="en-US" dirty="0" err="1"/>
              <a:t>tation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endParaRPr lang="en-US" dirty="0"/>
          </a:p>
          <a:p>
            <a:pPr lvl="0"/>
            <a:r>
              <a:rPr lang="en-US" dirty="0"/>
              <a:t>Duis </a:t>
            </a:r>
            <a:r>
              <a:rPr lang="en-US" dirty="0" err="1"/>
              <a:t>autem</a:t>
            </a:r>
            <a:r>
              <a:rPr lang="en-US" dirty="0"/>
              <a:t> vel </a:t>
            </a:r>
            <a:r>
              <a:rPr lang="en-US" dirty="0" err="1"/>
              <a:t>eum</a:t>
            </a:r>
            <a:r>
              <a:rPr lang="en-US" dirty="0"/>
              <a:t> </a:t>
            </a:r>
            <a:r>
              <a:rPr lang="en-US" dirty="0" err="1"/>
              <a:t>iriure</a:t>
            </a:r>
            <a:r>
              <a:rPr lang="en-US" dirty="0"/>
              <a:t> dolor in </a:t>
            </a:r>
            <a:r>
              <a:rPr lang="en-US" dirty="0" err="1"/>
              <a:t>hendrerit</a:t>
            </a:r>
            <a:r>
              <a:rPr lang="en-US" dirty="0"/>
              <a:t> in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, vel</a:t>
            </a:r>
          </a:p>
        </p:txBody>
      </p:sp>
      <p:sp>
        <p:nvSpPr>
          <p:cNvPr id="9" name="Élőláb helye 8">
            <a:extLst>
              <a:ext uri="{FF2B5EF4-FFF2-40B4-BE49-F238E27FC236}">
                <a16:creationId xmlns:a16="http://schemas.microsoft.com/office/drawing/2014/main" id="{4DFE71AD-8E0C-4521-BD21-324BFA2A3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hu-HU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PREZENTÁCIÓ CÍM </a:t>
            </a:r>
            <a:r>
              <a:rPr lang="hu-HU" dirty="0"/>
              <a:t>FEJEZET CÍM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3F5D711F-7E1B-4722-A086-C5CD3049A6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22552" y="1403994"/>
            <a:ext cx="1241564" cy="1241564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C18FE5C-605B-42D8-BA33-445A901AD44E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12985398" y="3694176"/>
            <a:ext cx="10515709" cy="7672197"/>
          </a:xfrm>
        </p:spPr>
        <p:txBody>
          <a:bodyPr>
            <a:noAutofit/>
          </a:bodyPr>
          <a:lstStyle>
            <a:lvl1pPr marL="0" indent="0">
              <a:lnSpc>
                <a:spcPts val="6303"/>
              </a:lnSpc>
              <a:buNone/>
              <a:defRPr sz="4200" spc="-15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Ut </a:t>
            </a:r>
            <a:r>
              <a:rPr lang="en-US" dirty="0" err="1"/>
              <a:t>wisi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</a:t>
            </a:r>
            <a:r>
              <a:rPr lang="en-US" dirty="0" err="1"/>
              <a:t>exerci</a:t>
            </a:r>
            <a:r>
              <a:rPr lang="en-US" dirty="0"/>
              <a:t> </a:t>
            </a:r>
            <a:r>
              <a:rPr lang="en-US" dirty="0" err="1"/>
              <a:t>tation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endParaRPr lang="en-US" dirty="0"/>
          </a:p>
          <a:p>
            <a:pPr lvl="0"/>
            <a:r>
              <a:rPr lang="en-US" dirty="0"/>
              <a:t>Duis </a:t>
            </a:r>
            <a:r>
              <a:rPr lang="en-US" dirty="0" err="1"/>
              <a:t>autem</a:t>
            </a:r>
            <a:r>
              <a:rPr lang="en-US" dirty="0"/>
              <a:t> vel </a:t>
            </a:r>
            <a:r>
              <a:rPr lang="en-US" dirty="0" err="1"/>
              <a:t>eum</a:t>
            </a:r>
            <a:r>
              <a:rPr lang="en-US" dirty="0"/>
              <a:t> </a:t>
            </a:r>
            <a:r>
              <a:rPr lang="en-US" dirty="0" err="1"/>
              <a:t>iriure</a:t>
            </a:r>
            <a:r>
              <a:rPr lang="en-US" dirty="0"/>
              <a:t> dolor in </a:t>
            </a:r>
            <a:r>
              <a:rPr lang="en-US" dirty="0" err="1"/>
              <a:t>hendrerit</a:t>
            </a:r>
            <a:endParaRPr lang="en-US" dirty="0"/>
          </a:p>
        </p:txBody>
      </p:sp>
      <p:pic>
        <p:nvPicPr>
          <p:cNvPr id="11" name="Kép 10">
            <a:extLst>
              <a:ext uri="{FF2B5EF4-FFF2-40B4-BE49-F238E27FC236}">
                <a16:creationId xmlns:a16="http://schemas.microsoft.com/office/drawing/2014/main" id="{19827B39-62A2-4341-ADE9-BB5F855AE4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743834" y="1403994"/>
            <a:ext cx="1241564" cy="1241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8701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ó vagy ábra megjeleníté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474586" y="730251"/>
            <a:ext cx="10514915" cy="2651126"/>
          </a:xfrm>
        </p:spPr>
        <p:txBody>
          <a:bodyPr>
            <a:normAutofit/>
          </a:bodyPr>
          <a:lstStyle>
            <a:lvl1pPr>
              <a:defRPr sz="490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defRPr>
            </a:lvl1pPr>
          </a:lstStyle>
          <a:p>
            <a:r>
              <a:rPr lang="en-US" dirty="0"/>
              <a:t>DIA CÍM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473793" y="2889504"/>
            <a:ext cx="9434890" cy="9879564"/>
          </a:xfrm>
        </p:spPr>
        <p:txBody>
          <a:bodyPr>
            <a:spAutoFit/>
          </a:bodyPr>
          <a:lstStyle>
            <a:lvl1pPr marL="571500" indent="-571500" algn="l">
              <a:lnSpc>
                <a:spcPts val="6303"/>
              </a:lnSpc>
              <a:buClr>
                <a:schemeClr val="accent1"/>
              </a:buClr>
              <a:buSzPct val="110000"/>
              <a:buFont typeface="Lato" panose="020F0502020204030203" pitchFamily="34" charset="0"/>
              <a:buChar char="•"/>
              <a:defRPr sz="4200" spc="-15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hu-HU" dirty="0"/>
              <a:t> </a:t>
            </a:r>
            <a:r>
              <a:rPr lang="en-US" dirty="0" err="1"/>
              <a:t>consec</a:t>
            </a:r>
            <a:endParaRPr lang="en-US" dirty="0"/>
          </a:p>
          <a:p>
            <a:pPr lvl="0"/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endParaRPr lang="hu-HU" dirty="0"/>
          </a:p>
          <a:p>
            <a:pPr lvl="0"/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</a:t>
            </a:r>
            <a:endParaRPr lang="hu-HU" dirty="0"/>
          </a:p>
          <a:p>
            <a:pPr lvl="0"/>
            <a:r>
              <a:rPr lang="en-US" dirty="0"/>
              <a:t>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Ut </a:t>
            </a:r>
            <a:r>
              <a:rPr lang="en-US" dirty="0" err="1"/>
              <a:t>wisi</a:t>
            </a:r>
            <a:endParaRPr lang="hu-HU" dirty="0"/>
          </a:p>
          <a:p>
            <a:pPr lvl="0"/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endParaRPr lang="hu-HU" dirty="0"/>
          </a:p>
          <a:p>
            <a:pPr lvl="0"/>
            <a:r>
              <a:rPr lang="en-US" dirty="0"/>
              <a:t> </a:t>
            </a:r>
            <a:r>
              <a:rPr lang="en-US" dirty="0" err="1"/>
              <a:t>exerci</a:t>
            </a:r>
            <a:r>
              <a:rPr lang="en-US" dirty="0"/>
              <a:t> </a:t>
            </a:r>
            <a:r>
              <a:rPr lang="en-US" dirty="0" err="1"/>
              <a:t>tation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hu-HU" dirty="0"/>
              <a:t> </a:t>
            </a:r>
            <a:r>
              <a:rPr lang="en-US" dirty="0" err="1"/>
              <a:t>lobortis</a:t>
            </a:r>
            <a:endParaRPr lang="hu-HU" dirty="0"/>
          </a:p>
          <a:p>
            <a:pPr lvl="0"/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  <a:endParaRPr lang="hu-HU" dirty="0"/>
          </a:p>
          <a:p>
            <a:pPr lvl="0"/>
            <a:endParaRPr lang="en-US" dirty="0"/>
          </a:p>
        </p:txBody>
      </p:sp>
      <p:sp>
        <p:nvSpPr>
          <p:cNvPr id="9" name="Élőláb helye 8">
            <a:extLst>
              <a:ext uri="{FF2B5EF4-FFF2-40B4-BE49-F238E27FC236}">
                <a16:creationId xmlns:a16="http://schemas.microsoft.com/office/drawing/2014/main" id="{4DFE71AD-8E0C-4521-BD21-324BFA2A3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hu-HU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PREZENTÁCIÓ CÍM </a:t>
            </a:r>
            <a:r>
              <a:rPr lang="hu-HU" dirty="0"/>
              <a:t>FEJEZET CÍM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3F5D711F-7E1B-4722-A086-C5CD3049A6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22552" y="1403994"/>
            <a:ext cx="1241564" cy="1241564"/>
          </a:xfrm>
          <a:prstGeom prst="rect">
            <a:avLst/>
          </a:prstGeom>
        </p:spPr>
      </p:pic>
      <p:sp>
        <p:nvSpPr>
          <p:cNvPr id="12" name="Kép helye 11">
            <a:extLst>
              <a:ext uri="{FF2B5EF4-FFF2-40B4-BE49-F238E27FC236}">
                <a16:creationId xmlns:a16="http://schemas.microsoft.com/office/drawing/2014/main" id="{980390D3-F174-44BB-A4A1-FD26104725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190413" y="0"/>
            <a:ext cx="12192000" cy="12234863"/>
          </a:xfrm>
        </p:spPr>
        <p:txBody>
          <a:bodyPr/>
          <a:lstStyle/>
          <a:p>
            <a:r>
              <a:rPr lang="hu-HU"/>
              <a:t>Kép beszúrásához kattintson az ikonra</a:t>
            </a:r>
          </a:p>
        </p:txBody>
      </p:sp>
    </p:spTree>
    <p:extLst>
      <p:ext uri="{BB962C8B-B14F-4D97-AF65-F5344CB8AC3E}">
        <p14:creationId xmlns:p14="http://schemas.microsoft.com/office/powerpoint/2010/main" val="21837089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51947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ímdia fehér többsor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BF7E929C-34D8-4A42-93E2-7FEE245CAF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9441" y="3007627"/>
            <a:ext cx="2543530" cy="2543530"/>
          </a:xfrm>
          <a:prstGeom prst="rect">
            <a:avLst/>
          </a:prstGeom>
        </p:spPr>
      </p:pic>
      <p:sp>
        <p:nvSpPr>
          <p:cNvPr id="6" name="Dátum helye 5">
            <a:extLst>
              <a:ext uri="{FF2B5EF4-FFF2-40B4-BE49-F238E27FC236}">
                <a16:creationId xmlns:a16="http://schemas.microsoft.com/office/drawing/2014/main" id="{058A6922-BF1B-433F-936B-426F06AA8E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8340765" y="12593140"/>
            <a:ext cx="5486043" cy="730250"/>
          </a:xfrm>
        </p:spPr>
        <p:txBody>
          <a:bodyPr/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hu-HU" sz="3175" dirty="0"/>
              <a:t>BUDAPEST 2019/09/15</a:t>
            </a:r>
          </a:p>
        </p:txBody>
      </p:sp>
      <p:sp>
        <p:nvSpPr>
          <p:cNvPr id="7" name="Élőláb helye 6">
            <a:extLst>
              <a:ext uri="{FF2B5EF4-FFF2-40B4-BE49-F238E27FC236}">
                <a16:creationId xmlns:a16="http://schemas.microsoft.com/office/drawing/2014/main" id="{A9BFA8F9-F628-442A-9F6D-1A92FD656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53220" y="12361537"/>
            <a:ext cx="9957167" cy="730250"/>
          </a:xfrm>
        </p:spPr>
        <p:txBody>
          <a:bodyPr/>
          <a:lstStyle/>
          <a:p>
            <a:pPr algn="l"/>
            <a:r>
              <a:rPr lang="hu-HU" dirty="0"/>
              <a:t>ELŐADÓ(K)</a:t>
            </a:r>
          </a:p>
          <a:p>
            <a:pPr algn="l"/>
            <a:r>
              <a:rPr lang="hu-HU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ELŐADÓ NEVE/ELŐADÓ NEVE/ELŐADÓ NEVE</a:t>
            </a:r>
          </a:p>
        </p:txBody>
      </p:sp>
      <p:sp>
        <p:nvSpPr>
          <p:cNvPr id="13" name="Cím 12">
            <a:extLst>
              <a:ext uri="{FF2B5EF4-FFF2-40B4-BE49-F238E27FC236}">
                <a16:creationId xmlns:a16="http://schemas.microsoft.com/office/drawing/2014/main" id="{A48E386B-BEDF-4B09-9129-F9EDBCF94D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5497" y="5661216"/>
            <a:ext cx="21029831" cy="2651126"/>
          </a:xfrm>
        </p:spPr>
        <p:txBody>
          <a:bodyPr>
            <a:noAutofit/>
          </a:bodyPr>
          <a:lstStyle>
            <a:lvl1pPr algn="ctr">
              <a:defRPr sz="990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defRPr>
            </a:lvl1pPr>
          </a:lstStyle>
          <a:p>
            <a:r>
              <a:rPr lang="es-ES" dirty="0"/>
              <a:t>ELŐADÁS CÍM</a:t>
            </a:r>
            <a:br>
              <a:rPr lang="es-ES" dirty="0"/>
            </a:br>
            <a:r>
              <a:rPr lang="es-ES" dirty="0"/>
              <a:t>(TÖBB SOROS ESETÉN)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873441328"/>
      </p:ext>
    </p:extLst>
  </p:cSld>
  <p:clrMapOvr>
    <a:masterClrMapping/>
  </p:clrMapOvr>
  <p:hf sldNum="0" hd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9.xml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Kép 15">
            <a:extLst>
              <a:ext uri="{FF2B5EF4-FFF2-40B4-BE49-F238E27FC236}">
                <a16:creationId xmlns:a16="http://schemas.microsoft.com/office/drawing/2014/main" id="{AA3E1E14-0996-4DEA-8550-1A23E6C9EBB0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382413" cy="13715107"/>
          </a:xfrm>
          <a:prstGeom prst="rect">
            <a:avLst/>
          </a:prstGeom>
        </p:spPr>
      </p:pic>
      <p:sp>
        <p:nvSpPr>
          <p:cNvPr id="7" name="Téglalap 6">
            <a:extLst>
              <a:ext uri="{FF2B5EF4-FFF2-40B4-BE49-F238E27FC236}">
                <a16:creationId xmlns:a16="http://schemas.microsoft.com/office/drawing/2014/main" id="{C51057D7-519C-458B-9C50-47BA2C2A5C09}"/>
              </a:ext>
            </a:extLst>
          </p:cNvPr>
          <p:cNvSpPr/>
          <p:nvPr userDrawn="1"/>
        </p:nvSpPr>
        <p:spPr>
          <a:xfrm>
            <a:off x="0" y="12232800"/>
            <a:ext cx="24382413" cy="14832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291" y="730251"/>
            <a:ext cx="21029831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dirty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291" y="3651250"/>
            <a:ext cx="21029831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  <a:endParaRPr lang="en-US" dirty="0"/>
          </a:p>
        </p:txBody>
      </p:sp>
      <p:sp>
        <p:nvSpPr>
          <p:cNvPr id="4" name="Date Placeholder 3" hidden="1"/>
          <p:cNvSpPr>
            <a:spLocks noGrp="1"/>
          </p:cNvSpPr>
          <p:nvPr>
            <p:ph type="dt" sz="half" idx="2"/>
          </p:nvPr>
        </p:nvSpPr>
        <p:spPr>
          <a:xfrm>
            <a:off x="1676291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BA2458-2494-4835-90F3-2C2A6F3DCAEC}" type="datetimeFigureOut">
              <a:rPr lang="hu-HU" smtClean="0"/>
              <a:t>2026. 07. 07.</a:t>
            </a:fld>
            <a:endParaRPr lang="hu-H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53220" y="12574479"/>
            <a:ext cx="9957167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175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algn="l"/>
            <a:r>
              <a:rPr lang="hu-HU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PREZENTÁCIÓ CÍM </a:t>
            </a:r>
            <a:r>
              <a:rPr lang="hu-HU" dirty="0"/>
              <a:t>FEJEZET CÍM</a:t>
            </a:r>
          </a:p>
        </p:txBody>
      </p:sp>
      <p:pic>
        <p:nvPicPr>
          <p:cNvPr id="12" name="LOGO">
            <a:extLst>
              <a:ext uri="{FF2B5EF4-FFF2-40B4-BE49-F238E27FC236}">
                <a16:creationId xmlns:a16="http://schemas.microsoft.com/office/drawing/2014/main" id="{2B54849A-6A30-4928-BC98-05520E2A8E66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267591" y="12178816"/>
            <a:ext cx="6842811" cy="1552792"/>
          </a:xfrm>
          <a:prstGeom prst="rect">
            <a:avLst/>
          </a:prstGeom>
        </p:spPr>
      </p:pic>
      <p:pic>
        <p:nvPicPr>
          <p:cNvPr id="14" name="Kép 13">
            <a:extLst>
              <a:ext uri="{FF2B5EF4-FFF2-40B4-BE49-F238E27FC236}">
                <a16:creationId xmlns:a16="http://schemas.microsoft.com/office/drawing/2014/main" id="{2265CBED-BC7F-45B1-9AB6-ADE2DE40C4F5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34" y="12631452"/>
            <a:ext cx="685896" cy="685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040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3" r:id="rId2"/>
    <p:sldLayoutId id="2147483672" r:id="rId3"/>
    <p:sldLayoutId id="2147483663" r:id="rId4"/>
    <p:sldLayoutId id="2147483675" r:id="rId5"/>
    <p:sldLayoutId id="2147483680" r:id="rId6"/>
    <p:sldLayoutId id="2147483681" r:id="rId7"/>
    <p:sldLayoutId id="2147483682" r:id="rId8"/>
  </p:sldLayoutIdLst>
  <p:hf sldNum="0" hdr="0" dt="0"/>
  <p:txStyles>
    <p:titleStyle>
      <a:lvl1pPr algn="l" defTabSz="1828709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77" indent="-457177" algn="l" defTabSz="1828709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53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5886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240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594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8949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7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54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9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1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6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4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99" userDrawn="1">
          <p15:clr>
            <a:srgbClr val="F26B43"/>
          </p15:clr>
        </p15:guide>
        <p15:guide id="2" pos="14937" userDrawn="1">
          <p15:clr>
            <a:srgbClr val="F26B43"/>
          </p15:clr>
        </p15:guide>
        <p15:guide id="3" orient="horz" pos="4320" userDrawn="1">
          <p15:clr>
            <a:srgbClr val="F26B43"/>
          </p15:clr>
        </p15:guide>
        <p15:guide id="4" pos="7679" userDrawn="1">
          <p15:clr>
            <a:srgbClr val="F26B43"/>
          </p15:clr>
        </p15:guide>
        <p15:guide id="5" orient="horz" pos="8244" userDrawn="1">
          <p15:clr>
            <a:srgbClr val="F26B43"/>
          </p15:clr>
        </p15:guide>
        <p15:guide id="6" orient="horz" pos="7858" userDrawn="1">
          <p15:clr>
            <a:srgbClr val="F26B43"/>
          </p15:clr>
        </p15:guide>
        <p15:guide id="7" orient="horz" pos="8493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Kép 10">
            <a:extLst>
              <a:ext uri="{FF2B5EF4-FFF2-40B4-BE49-F238E27FC236}">
                <a16:creationId xmlns:a16="http://schemas.microsoft.com/office/drawing/2014/main" id="{7C6745AC-21F4-4E5A-AC34-6F1EF8ABFCC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3"/>
            <a:ext cx="24382413" cy="1371510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291" y="730251"/>
            <a:ext cx="21029831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dirty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291" y="3651250"/>
            <a:ext cx="21029831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  <a:endParaRPr lang="en-US" dirty="0"/>
          </a:p>
        </p:txBody>
      </p:sp>
      <p:sp>
        <p:nvSpPr>
          <p:cNvPr id="4" name="Date Placeholder 3" hidden="1"/>
          <p:cNvSpPr>
            <a:spLocks noGrp="1"/>
          </p:cNvSpPr>
          <p:nvPr>
            <p:ph type="dt" sz="half" idx="2"/>
          </p:nvPr>
        </p:nvSpPr>
        <p:spPr>
          <a:xfrm>
            <a:off x="1676291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BA2458-2494-4835-90F3-2C2A6F3DCAEC}" type="datetimeFigureOut">
              <a:rPr lang="hu-HU" smtClean="0"/>
              <a:t>2026. 07. 07.</a:t>
            </a:fld>
            <a:endParaRPr lang="hu-H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53220" y="12574479"/>
            <a:ext cx="9957167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175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algn="l"/>
            <a:r>
              <a:rPr lang="hu-HU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PREZENTÁCIÓ CÍM </a:t>
            </a:r>
            <a:r>
              <a:rPr lang="hu-HU" dirty="0"/>
              <a:t>FEJEZET CÍM</a:t>
            </a:r>
          </a:p>
        </p:txBody>
      </p:sp>
      <p:sp>
        <p:nvSpPr>
          <p:cNvPr id="6" name="Slide Number Placeholder 5" hidden="1"/>
          <p:cNvSpPr>
            <a:spLocks noGrp="1"/>
          </p:cNvSpPr>
          <p:nvPr>
            <p:ph type="sldNum" sz="quarter" idx="4"/>
          </p:nvPr>
        </p:nvSpPr>
        <p:spPr>
          <a:xfrm>
            <a:off x="17220079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35DAE2-5C59-431E-A7BF-41FC0F0720DE}" type="slidenum">
              <a:rPr lang="hu-HU" smtClean="0"/>
              <a:t>‹#›</a:t>
            </a:fld>
            <a:endParaRPr lang="hu-HU"/>
          </a:p>
        </p:txBody>
      </p:sp>
      <p:pic>
        <p:nvPicPr>
          <p:cNvPr id="14" name="Kép 13">
            <a:extLst>
              <a:ext uri="{FF2B5EF4-FFF2-40B4-BE49-F238E27FC236}">
                <a16:creationId xmlns:a16="http://schemas.microsoft.com/office/drawing/2014/main" id="{2265CBED-BC7F-45B1-9AB6-ADE2DE40C4F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34" y="12343354"/>
            <a:ext cx="685896" cy="685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303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hf sldNum="0" hdr="0" dt="0"/>
  <p:txStyles>
    <p:titleStyle>
      <a:lvl1pPr algn="l" defTabSz="1828709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77" indent="-457177" algn="l" defTabSz="1828709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53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5886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240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594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8949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7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54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9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1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6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4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99" userDrawn="1">
          <p15:clr>
            <a:srgbClr val="F26B43"/>
          </p15:clr>
        </p15:guide>
        <p15:guide id="2" pos="14937" userDrawn="1">
          <p15:clr>
            <a:srgbClr val="F26B43"/>
          </p15:clr>
        </p15:guide>
        <p15:guide id="3" orient="horz" pos="4320" userDrawn="1">
          <p15:clr>
            <a:srgbClr val="F26B43"/>
          </p15:clr>
        </p15:guide>
        <p15:guide id="4" pos="7679" userDrawn="1">
          <p15:clr>
            <a:srgbClr val="F26B43"/>
          </p15:clr>
        </p15:guide>
        <p15:guide id="5" orient="horz" pos="824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C642AD8-A3D3-4F24-98C0-87CCD4B2E6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Understanding BERT for Medical Text Classification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DB839642-D3D3-49AF-9706-46DB9E8B02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0" dirty="0"/>
              <a:t>Zita Zarándy	BIOMED-26</a:t>
            </a:r>
          </a:p>
        </p:txBody>
      </p:sp>
    </p:spTree>
    <p:extLst>
      <p:ext uri="{BB962C8B-B14F-4D97-AF65-F5344CB8AC3E}">
        <p14:creationId xmlns:p14="http://schemas.microsoft.com/office/powerpoint/2010/main" val="32482306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775" y="640485"/>
            <a:ext cx="15117657" cy="1021816"/>
          </a:xfrm>
          <a:prstGeom prst="rect">
            <a:avLst/>
          </a:prstGeom>
          <a:noFill/>
        </p:spPr>
        <p:txBody>
          <a:bodyPr wrap="none" lIns="54860" tIns="18287" rIns="54860" bIns="18287">
            <a:spAutoFit/>
          </a:bodyPr>
          <a:lstStyle/>
          <a:p>
            <a:pPr algn="l">
              <a:defRPr sz="3200" b="1">
                <a:solidFill>
                  <a:srgbClr val="132343"/>
                </a:solidFill>
                <a:latin typeface="Aptos"/>
              </a:defRPr>
            </a:pPr>
            <a:r>
              <a:rPr lang="en-US" sz="6400" noProof="0" dirty="0"/>
              <a:t>Why medical text needs specialized NLP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634" y="1737695"/>
            <a:ext cx="15119387" cy="498596"/>
          </a:xfrm>
          <a:prstGeom prst="rect">
            <a:avLst/>
          </a:prstGeom>
          <a:noFill/>
        </p:spPr>
        <p:txBody>
          <a:bodyPr wrap="none" lIns="54860" tIns="18287" rIns="54860" bIns="18287">
            <a:spAutoFit/>
          </a:bodyPr>
          <a:lstStyle/>
          <a:p>
            <a:pPr algn="l">
              <a:defRPr sz="1500" b="0">
                <a:solidFill>
                  <a:srgbClr val="5B697D"/>
                </a:solidFill>
                <a:latin typeface="Aptos"/>
              </a:defRPr>
            </a:pPr>
            <a:r>
              <a:rPr lang="en-US" sz="3000" noProof="0" dirty="0"/>
              <a:t>Medicine communicates through text — but medical text is not ordinary everyday language.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511" y="3017770"/>
            <a:ext cx="21669869" cy="2285851"/>
          </a:xfrm>
          <a:prstGeom prst="roundRect">
            <a:avLst/>
          </a:prstGeom>
          <a:solidFill>
            <a:srgbClr val="F2F7FF"/>
          </a:solidFill>
          <a:ln w="12700">
            <a:solidFill>
              <a:srgbClr val="DE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noProof="0" dirty="0"/>
          </a:p>
        </p:txBody>
      </p:sp>
      <p:sp>
        <p:nvSpPr>
          <p:cNvPr id="5" name="Rectangle 4"/>
          <p:cNvSpPr/>
          <p:nvPr/>
        </p:nvSpPr>
        <p:spPr>
          <a:xfrm>
            <a:off x="1371511" y="3017770"/>
            <a:ext cx="164581" cy="2285851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noProof="0" dirty="0"/>
          </a:p>
        </p:txBody>
      </p:sp>
      <p:sp>
        <p:nvSpPr>
          <p:cNvPr id="6" name="Oval 5"/>
          <p:cNvSpPr/>
          <p:nvPr/>
        </p:nvSpPr>
        <p:spPr>
          <a:xfrm>
            <a:off x="1956688" y="3630378"/>
            <a:ext cx="1060635" cy="1060635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4" tIns="18287" rIns="36574" bIns="18287" rtlCol="0" anchor="ctr"/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rPr lang="en-US" sz="3400" noProof="0" dirty="0"/>
              <a:t>1</a:t>
            </a:r>
          </a:p>
        </p:txBody>
      </p:sp>
      <p:grpSp>
        <p:nvGrpSpPr>
          <p:cNvPr id="35" name="Csoportba foglalás 34">
            <a:extLst>
              <a:ext uri="{FF2B5EF4-FFF2-40B4-BE49-F238E27FC236}">
                <a16:creationId xmlns:a16="http://schemas.microsoft.com/office/drawing/2014/main" id="{C45DF2D6-3EF8-6DA5-A5C7-43DB794C6A19}"/>
              </a:ext>
            </a:extLst>
          </p:cNvPr>
          <p:cNvGrpSpPr/>
          <p:nvPr/>
        </p:nvGrpSpPr>
        <p:grpSpPr>
          <a:xfrm>
            <a:off x="3419634" y="3548558"/>
            <a:ext cx="13850835" cy="1224275"/>
            <a:chOff x="3419634" y="3383505"/>
            <a:chExt cx="13850835" cy="1224275"/>
          </a:xfrm>
        </p:grpSpPr>
        <p:sp>
          <p:nvSpPr>
            <p:cNvPr id="7" name="TextBox 6"/>
            <p:cNvSpPr txBox="1"/>
            <p:nvPr/>
          </p:nvSpPr>
          <p:spPr>
            <a:xfrm>
              <a:off x="3419634" y="3383505"/>
              <a:ext cx="4047767" cy="529374"/>
            </a:xfrm>
            <a:prstGeom prst="rect">
              <a:avLst/>
            </a:prstGeom>
            <a:noFill/>
          </p:spPr>
          <p:txBody>
            <a:bodyPr wrap="none" lIns="54860" tIns="18287" rIns="54860" bIns="18287">
              <a:spAutoFit/>
            </a:bodyPr>
            <a:lstStyle/>
            <a:p>
              <a:pPr algn="l">
                <a:defRPr sz="1600" b="1">
                  <a:solidFill>
                    <a:srgbClr val="132343"/>
                  </a:solidFill>
                  <a:latin typeface="Aptos"/>
                </a:defRPr>
              </a:pPr>
              <a:r>
                <a:rPr lang="en-US" sz="3200" noProof="0" dirty="0"/>
                <a:t>Specialized language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419634" y="4078406"/>
              <a:ext cx="13850835" cy="529374"/>
            </a:xfrm>
            <a:prstGeom prst="rect">
              <a:avLst/>
            </a:prstGeom>
            <a:noFill/>
          </p:spPr>
          <p:txBody>
            <a:bodyPr wrap="none" lIns="54860" tIns="18287" rIns="54860" bIns="18287">
              <a:spAutoFit/>
            </a:bodyPr>
            <a:lstStyle/>
            <a:p>
              <a:pPr algn="l">
                <a:defRPr sz="1600" b="0">
                  <a:solidFill>
                    <a:srgbClr val="1C283E"/>
                  </a:solidFill>
                  <a:latin typeface="Aptos"/>
                </a:defRPr>
              </a:pPr>
              <a:r>
                <a:rPr lang="en-US" sz="3200" noProof="0" dirty="0"/>
                <a:t>Medical language contains specialized terminology, abbreviations, and jargon.</a:t>
              </a:r>
            </a:p>
          </p:txBody>
        </p:sp>
      </p:grpSp>
      <p:sp>
        <p:nvSpPr>
          <p:cNvPr id="9" name="Rounded Rectangle 8"/>
          <p:cNvSpPr/>
          <p:nvPr/>
        </p:nvSpPr>
        <p:spPr>
          <a:xfrm>
            <a:off x="1371511" y="5669357"/>
            <a:ext cx="21669869" cy="2285851"/>
          </a:xfrm>
          <a:prstGeom prst="roundRect">
            <a:avLst/>
          </a:prstGeom>
          <a:solidFill>
            <a:srgbClr val="F8F6FF"/>
          </a:solidFill>
          <a:ln w="12700">
            <a:solidFill>
              <a:srgbClr val="DE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noProof="0" dirty="0"/>
          </a:p>
        </p:txBody>
      </p:sp>
      <p:sp>
        <p:nvSpPr>
          <p:cNvPr id="10" name="Rectangle 9"/>
          <p:cNvSpPr/>
          <p:nvPr/>
        </p:nvSpPr>
        <p:spPr>
          <a:xfrm>
            <a:off x="1371511" y="5669357"/>
            <a:ext cx="164581" cy="2285851"/>
          </a:xfrm>
          <a:prstGeom prst="rect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noProof="0" dirty="0"/>
          </a:p>
        </p:txBody>
      </p:sp>
      <p:sp>
        <p:nvSpPr>
          <p:cNvPr id="11" name="Oval 10"/>
          <p:cNvSpPr/>
          <p:nvPr/>
        </p:nvSpPr>
        <p:spPr>
          <a:xfrm>
            <a:off x="1956688" y="6281965"/>
            <a:ext cx="1060635" cy="1060635"/>
          </a:xfrm>
          <a:prstGeom prst="ellipse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4" tIns="18287" rIns="36574" bIns="18287" rtlCol="0" anchor="ctr"/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rPr lang="en-US" sz="3400" noProof="0" dirty="0"/>
              <a:t>2</a:t>
            </a:r>
          </a:p>
        </p:txBody>
      </p:sp>
      <p:grpSp>
        <p:nvGrpSpPr>
          <p:cNvPr id="36" name="Csoportba foglalás 35">
            <a:extLst>
              <a:ext uri="{FF2B5EF4-FFF2-40B4-BE49-F238E27FC236}">
                <a16:creationId xmlns:a16="http://schemas.microsoft.com/office/drawing/2014/main" id="{E9302132-16E8-325F-155B-F87CF7E43952}"/>
              </a:ext>
            </a:extLst>
          </p:cNvPr>
          <p:cNvGrpSpPr/>
          <p:nvPr/>
        </p:nvGrpSpPr>
        <p:grpSpPr>
          <a:xfrm>
            <a:off x="3419633" y="6200146"/>
            <a:ext cx="12503864" cy="1224273"/>
            <a:chOff x="3419633" y="6035095"/>
            <a:chExt cx="12503864" cy="1224273"/>
          </a:xfrm>
        </p:grpSpPr>
        <p:sp>
          <p:nvSpPr>
            <p:cNvPr id="12" name="TextBox 11"/>
            <p:cNvSpPr txBox="1"/>
            <p:nvPr/>
          </p:nvSpPr>
          <p:spPr>
            <a:xfrm>
              <a:off x="3419633" y="6035095"/>
              <a:ext cx="2450984" cy="529374"/>
            </a:xfrm>
            <a:prstGeom prst="rect">
              <a:avLst/>
            </a:prstGeom>
            <a:noFill/>
          </p:spPr>
          <p:txBody>
            <a:bodyPr wrap="none" lIns="54860" tIns="18287" rIns="54860" bIns="18287">
              <a:spAutoFit/>
            </a:bodyPr>
            <a:lstStyle/>
            <a:p>
              <a:pPr algn="l">
                <a:defRPr sz="1600" b="1">
                  <a:solidFill>
                    <a:srgbClr val="132343"/>
                  </a:solidFill>
                  <a:latin typeface="Aptos"/>
                </a:defRPr>
              </a:pPr>
              <a:r>
                <a:rPr lang="en-US" sz="3200" noProof="0" dirty="0"/>
                <a:t>Meaning gap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419633" y="6729994"/>
              <a:ext cx="12503864" cy="529374"/>
            </a:xfrm>
            <a:prstGeom prst="rect">
              <a:avLst/>
            </a:prstGeom>
            <a:noFill/>
          </p:spPr>
          <p:txBody>
            <a:bodyPr wrap="none" lIns="54860" tIns="18287" rIns="54860" bIns="18287">
              <a:spAutoFit/>
            </a:bodyPr>
            <a:lstStyle/>
            <a:p>
              <a:pPr algn="l">
                <a:defRPr sz="1600" b="0">
                  <a:solidFill>
                    <a:srgbClr val="1C283E"/>
                  </a:solidFill>
                  <a:latin typeface="Aptos"/>
                </a:defRPr>
              </a:pPr>
              <a:r>
                <a:rPr lang="en-US" sz="3200" noProof="0" dirty="0"/>
                <a:t>General language models may not recognize medical meaning reliably.</a:t>
              </a:r>
            </a:p>
          </p:txBody>
        </p:sp>
      </p:grpSp>
      <p:sp>
        <p:nvSpPr>
          <p:cNvPr id="14" name="Rounded Rectangle 13"/>
          <p:cNvSpPr/>
          <p:nvPr/>
        </p:nvSpPr>
        <p:spPr>
          <a:xfrm>
            <a:off x="1371511" y="8320945"/>
            <a:ext cx="21669869" cy="2285851"/>
          </a:xfrm>
          <a:prstGeom prst="roundRect">
            <a:avLst/>
          </a:prstGeom>
          <a:solidFill>
            <a:srgbClr val="F2FCF8"/>
          </a:solidFill>
          <a:ln w="12700">
            <a:solidFill>
              <a:srgbClr val="DE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noProof="0" dirty="0"/>
          </a:p>
        </p:txBody>
      </p:sp>
      <p:sp>
        <p:nvSpPr>
          <p:cNvPr id="15" name="Rectangle 14"/>
          <p:cNvSpPr/>
          <p:nvPr/>
        </p:nvSpPr>
        <p:spPr>
          <a:xfrm>
            <a:off x="1371511" y="8320945"/>
            <a:ext cx="164581" cy="2285851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noProof="0" dirty="0"/>
          </a:p>
        </p:txBody>
      </p:sp>
      <p:sp>
        <p:nvSpPr>
          <p:cNvPr id="16" name="Oval 15"/>
          <p:cNvSpPr/>
          <p:nvPr/>
        </p:nvSpPr>
        <p:spPr>
          <a:xfrm>
            <a:off x="1956688" y="8933553"/>
            <a:ext cx="1060635" cy="1060635"/>
          </a:xfrm>
          <a:prstGeom prst="ellipse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4" tIns="18287" rIns="36574" bIns="18287" rtlCol="0" anchor="ctr"/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rPr lang="en-US" sz="3400" noProof="0" dirty="0"/>
              <a:t>3</a:t>
            </a:r>
          </a:p>
        </p:txBody>
      </p:sp>
      <p:grpSp>
        <p:nvGrpSpPr>
          <p:cNvPr id="37" name="Csoportba foglalás 36">
            <a:extLst>
              <a:ext uri="{FF2B5EF4-FFF2-40B4-BE49-F238E27FC236}">
                <a16:creationId xmlns:a16="http://schemas.microsoft.com/office/drawing/2014/main" id="{4F169203-FE24-115C-27D4-C3EE7CD168E0}"/>
              </a:ext>
            </a:extLst>
          </p:cNvPr>
          <p:cNvGrpSpPr/>
          <p:nvPr/>
        </p:nvGrpSpPr>
        <p:grpSpPr>
          <a:xfrm>
            <a:off x="3419633" y="8851734"/>
            <a:ext cx="10819813" cy="1224273"/>
            <a:chOff x="3419633" y="8686682"/>
            <a:chExt cx="10819813" cy="1224273"/>
          </a:xfrm>
        </p:grpSpPr>
        <p:sp>
          <p:nvSpPr>
            <p:cNvPr id="17" name="TextBox 16"/>
            <p:cNvSpPr txBox="1"/>
            <p:nvPr/>
          </p:nvSpPr>
          <p:spPr>
            <a:xfrm>
              <a:off x="3419633" y="8686682"/>
              <a:ext cx="3236840" cy="529374"/>
            </a:xfrm>
            <a:prstGeom prst="rect">
              <a:avLst/>
            </a:prstGeom>
            <a:noFill/>
          </p:spPr>
          <p:txBody>
            <a:bodyPr wrap="none" lIns="54860" tIns="18287" rIns="54860" bIns="18287">
              <a:spAutoFit/>
            </a:bodyPr>
            <a:lstStyle/>
            <a:p>
              <a:pPr algn="l">
                <a:defRPr sz="1600" b="1">
                  <a:solidFill>
                    <a:srgbClr val="132343"/>
                  </a:solidFill>
                  <a:latin typeface="Aptos"/>
                </a:defRPr>
              </a:pPr>
              <a:r>
                <a:rPr lang="en-US" sz="3200" noProof="0" dirty="0"/>
                <a:t>Multiple sources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419633" y="9381581"/>
              <a:ext cx="10819813" cy="529374"/>
            </a:xfrm>
            <a:prstGeom prst="rect">
              <a:avLst/>
            </a:prstGeom>
            <a:noFill/>
          </p:spPr>
          <p:txBody>
            <a:bodyPr wrap="none" lIns="54860" tIns="18287" rIns="54860" bIns="18287">
              <a:spAutoFit/>
            </a:bodyPr>
            <a:lstStyle/>
            <a:p>
              <a:pPr algn="l">
                <a:defRPr sz="1600" b="0">
                  <a:solidFill>
                    <a:srgbClr val="1C283E"/>
                  </a:solidFill>
                  <a:latin typeface="Aptos"/>
                </a:defRPr>
              </a:pPr>
              <a:r>
                <a:rPr lang="en-US" sz="3200" noProof="0" dirty="0"/>
                <a:t>Text can come from patients, physicians, or clinical software.</a:t>
              </a:r>
            </a:p>
          </p:txBody>
        </p:sp>
      </p:grpSp>
      <p:grpSp>
        <p:nvGrpSpPr>
          <p:cNvPr id="40" name="Csoportba foglalás 39">
            <a:extLst>
              <a:ext uri="{FF2B5EF4-FFF2-40B4-BE49-F238E27FC236}">
                <a16:creationId xmlns:a16="http://schemas.microsoft.com/office/drawing/2014/main" id="{CA45BA28-E475-4422-76B7-7680D5AE8F4E}"/>
              </a:ext>
            </a:extLst>
          </p:cNvPr>
          <p:cNvGrpSpPr/>
          <p:nvPr/>
        </p:nvGrpSpPr>
        <p:grpSpPr>
          <a:xfrm>
            <a:off x="17321722" y="3868106"/>
            <a:ext cx="5028873" cy="585178"/>
            <a:chOff x="17321722" y="3712667"/>
            <a:chExt cx="5028873" cy="585178"/>
          </a:xfrm>
        </p:grpSpPr>
        <p:sp>
          <p:nvSpPr>
            <p:cNvPr id="19" name="Rounded Rectangle 18"/>
            <p:cNvSpPr/>
            <p:nvPr/>
          </p:nvSpPr>
          <p:spPr>
            <a:xfrm>
              <a:off x="17321722" y="3712667"/>
              <a:ext cx="1920115" cy="585178"/>
            </a:xfrm>
            <a:prstGeom prst="roundRect">
              <a:avLst/>
            </a:prstGeom>
            <a:solidFill>
              <a:srgbClr val="DEEB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574" tIns="18287" rIns="36574" bIns="18287" rtlCol="0" anchor="ctr"/>
            <a:lstStyle/>
            <a:p>
              <a:pPr algn="ctr">
                <a:defRPr sz="850" b="1">
                  <a:solidFill>
                    <a:srgbClr val="235AB4"/>
                  </a:solidFill>
                  <a:latin typeface="Aptos"/>
                </a:defRPr>
              </a:pPr>
              <a:r>
                <a:rPr lang="en-US" sz="1700" noProof="0" dirty="0"/>
                <a:t>terminology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19461279" y="3712667"/>
              <a:ext cx="1371511" cy="585178"/>
            </a:xfrm>
            <a:prstGeom prst="roundRect">
              <a:avLst/>
            </a:prstGeom>
            <a:solidFill>
              <a:srgbClr val="DEEB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574" tIns="18287" rIns="36574" bIns="18287" rtlCol="0" anchor="ctr"/>
            <a:lstStyle/>
            <a:p>
              <a:pPr algn="ctr">
                <a:defRPr sz="850" b="1">
                  <a:solidFill>
                    <a:srgbClr val="235AB4"/>
                  </a:solidFill>
                  <a:latin typeface="Aptos"/>
                </a:defRPr>
              </a:pPr>
              <a:r>
                <a:rPr lang="en-US" sz="1700" noProof="0" dirty="0"/>
                <a:t>abbr.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21070518" y="3712667"/>
              <a:ext cx="1280077" cy="585178"/>
            </a:xfrm>
            <a:prstGeom prst="roundRect">
              <a:avLst/>
            </a:prstGeom>
            <a:solidFill>
              <a:srgbClr val="DEEB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574" tIns="18287" rIns="36574" bIns="18287" rtlCol="0" anchor="ctr"/>
            <a:lstStyle/>
            <a:p>
              <a:pPr algn="ctr">
                <a:defRPr sz="850" b="1">
                  <a:solidFill>
                    <a:srgbClr val="235AB4"/>
                  </a:solidFill>
                  <a:latin typeface="Aptos"/>
                </a:defRPr>
              </a:pPr>
              <a:r>
                <a:rPr lang="en-US" sz="1700" noProof="0" dirty="0"/>
                <a:t>jargon</a:t>
              </a:r>
            </a:p>
          </p:txBody>
        </p:sp>
      </p:grpSp>
      <p:grpSp>
        <p:nvGrpSpPr>
          <p:cNvPr id="39" name="Csoportba foglalás 38">
            <a:extLst>
              <a:ext uri="{FF2B5EF4-FFF2-40B4-BE49-F238E27FC236}">
                <a16:creationId xmlns:a16="http://schemas.microsoft.com/office/drawing/2014/main" id="{8555ECD8-32EC-4728-BC2A-0F19E51AC475}"/>
              </a:ext>
            </a:extLst>
          </p:cNvPr>
          <p:cNvGrpSpPr/>
          <p:nvPr/>
        </p:nvGrpSpPr>
        <p:grpSpPr>
          <a:xfrm>
            <a:off x="17575394" y="6336825"/>
            <a:ext cx="4775201" cy="950914"/>
            <a:chOff x="17575394" y="6242342"/>
            <a:chExt cx="4775201" cy="950914"/>
          </a:xfrm>
        </p:grpSpPr>
        <p:sp>
          <p:nvSpPr>
            <p:cNvPr id="22" name="Rounded Rectangle 21"/>
            <p:cNvSpPr/>
            <p:nvPr/>
          </p:nvSpPr>
          <p:spPr>
            <a:xfrm>
              <a:off x="17575394" y="6406923"/>
              <a:ext cx="1532955" cy="658325"/>
            </a:xfrm>
            <a:prstGeom prst="roundRect">
              <a:avLst/>
            </a:prstGeom>
            <a:solidFill>
              <a:srgbClr val="E8E1FF"/>
            </a:solidFill>
            <a:ln w="12700">
              <a:solidFill>
                <a:srgbClr val="E8E1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574" tIns="18287" rIns="36574" bIns="18287" rtlCol="0" anchor="ctr"/>
            <a:lstStyle/>
            <a:p>
              <a:pPr algn="ctr">
                <a:defRPr sz="850" b="1">
                  <a:solidFill>
                    <a:srgbClr val="503791"/>
                  </a:solidFill>
                  <a:latin typeface="Aptos"/>
                </a:defRPr>
              </a:pPr>
              <a:r>
                <a:rPr lang="en-US" sz="1700" noProof="0" dirty="0"/>
                <a:t>general</a:t>
              </a:r>
            </a:p>
          </p:txBody>
        </p:sp>
        <p:sp>
          <p:nvSpPr>
            <p:cNvPr id="23" name="Oval 22"/>
            <p:cNvSpPr/>
            <p:nvPr/>
          </p:nvSpPr>
          <p:spPr>
            <a:xfrm>
              <a:off x="19620382" y="6242342"/>
              <a:ext cx="950914" cy="950914"/>
            </a:xfrm>
            <a:prstGeom prst="ellipse">
              <a:avLst/>
            </a:prstGeom>
            <a:solidFill>
              <a:srgbClr val="7E57C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574" tIns="18287" rIns="36574" bIns="18287" rtlCol="0" anchor="ctr"/>
            <a:lstStyle/>
            <a:p>
              <a:pPr algn="ctr">
                <a:defRPr sz="1700" b="1">
                  <a:solidFill>
                    <a:srgbClr val="FFFFFF"/>
                  </a:solidFill>
                  <a:latin typeface="Aptos"/>
                </a:defRPr>
              </a:pPr>
              <a:r>
                <a:rPr lang="en-US" sz="3400" noProof="0" dirty="0"/>
                <a:t>?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21083327" y="6406923"/>
              <a:ext cx="1267268" cy="658325"/>
            </a:xfrm>
            <a:prstGeom prst="roundRect">
              <a:avLst/>
            </a:prstGeom>
            <a:solidFill>
              <a:srgbClr val="E8E1FF"/>
            </a:solidFill>
            <a:ln w="12700">
              <a:solidFill>
                <a:srgbClr val="E8E1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574" tIns="18287" rIns="36574" bIns="18287" rtlCol="0" anchor="ctr"/>
            <a:lstStyle/>
            <a:p>
              <a:pPr algn="ctr">
                <a:defRPr sz="819" b="1">
                  <a:solidFill>
                    <a:srgbClr val="503791"/>
                  </a:solidFill>
                  <a:latin typeface="Aptos"/>
                </a:defRPr>
              </a:pPr>
              <a:r>
                <a:rPr lang="en-US" sz="1638" noProof="0" dirty="0"/>
                <a:t>medical</a:t>
              </a:r>
            </a:p>
          </p:txBody>
        </p:sp>
        <p:cxnSp>
          <p:nvCxnSpPr>
            <p:cNvPr id="25" name="Connector 24"/>
            <p:cNvCxnSpPr/>
            <p:nvPr/>
          </p:nvCxnSpPr>
          <p:spPr>
            <a:xfrm>
              <a:off x="19144925" y="6736086"/>
              <a:ext cx="402310" cy="0"/>
            </a:xfrm>
            <a:prstGeom prst="line">
              <a:avLst/>
            </a:prstGeom>
            <a:ln w="17780">
              <a:solidFill>
                <a:srgbClr val="7E57C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or 25"/>
            <p:cNvCxnSpPr/>
            <p:nvPr/>
          </p:nvCxnSpPr>
          <p:spPr>
            <a:xfrm>
              <a:off x="20626156" y="6736086"/>
              <a:ext cx="402310" cy="0"/>
            </a:xfrm>
            <a:prstGeom prst="line">
              <a:avLst/>
            </a:prstGeom>
            <a:ln w="17780">
              <a:solidFill>
                <a:srgbClr val="7E57C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Csoportba foglalás 37">
            <a:extLst>
              <a:ext uri="{FF2B5EF4-FFF2-40B4-BE49-F238E27FC236}">
                <a16:creationId xmlns:a16="http://schemas.microsoft.com/office/drawing/2014/main" id="{894D1BE4-2A0A-565C-5831-80AB5227CE34}"/>
              </a:ext>
            </a:extLst>
          </p:cNvPr>
          <p:cNvGrpSpPr/>
          <p:nvPr/>
        </p:nvGrpSpPr>
        <p:grpSpPr>
          <a:xfrm>
            <a:off x="16498814" y="9171281"/>
            <a:ext cx="5851781" cy="585178"/>
            <a:chOff x="16498814" y="9088992"/>
            <a:chExt cx="5851781" cy="585178"/>
          </a:xfrm>
        </p:grpSpPr>
        <p:sp>
          <p:nvSpPr>
            <p:cNvPr id="27" name="Rounded Rectangle 26"/>
            <p:cNvSpPr/>
            <p:nvPr/>
          </p:nvSpPr>
          <p:spPr>
            <a:xfrm>
              <a:off x="16498814" y="9088992"/>
              <a:ext cx="1645813" cy="585178"/>
            </a:xfrm>
            <a:prstGeom prst="roundRect">
              <a:avLst/>
            </a:prstGeom>
            <a:solidFill>
              <a:srgbClr val="DCF6E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574" tIns="18287" rIns="36574" bIns="18287" rtlCol="0" anchor="ctr"/>
            <a:lstStyle/>
            <a:p>
              <a:pPr algn="ctr">
                <a:defRPr sz="850" b="1">
                  <a:solidFill>
                    <a:srgbClr val="1E6E69"/>
                  </a:solidFill>
                  <a:latin typeface="Aptos"/>
                </a:defRPr>
              </a:pPr>
              <a:r>
                <a:rPr lang="en-US" sz="1700" noProof="0" dirty="0"/>
                <a:t>patients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18510365" y="9088992"/>
              <a:ext cx="1828681" cy="585178"/>
            </a:xfrm>
            <a:prstGeom prst="roundRect">
              <a:avLst/>
            </a:prstGeom>
            <a:solidFill>
              <a:srgbClr val="DCF6E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574" tIns="18287" rIns="36574" bIns="18287" rtlCol="0" anchor="ctr"/>
            <a:lstStyle/>
            <a:p>
              <a:pPr algn="ctr">
                <a:defRPr sz="850" b="1">
                  <a:solidFill>
                    <a:srgbClr val="1E6E69"/>
                  </a:solidFill>
                  <a:latin typeface="Aptos"/>
                </a:defRPr>
              </a:pPr>
              <a:r>
                <a:rPr lang="en-US" sz="1700" noProof="0" dirty="0"/>
                <a:t>physicians</a:t>
              </a:r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20704782" y="9088992"/>
              <a:ext cx="1645813" cy="585178"/>
            </a:xfrm>
            <a:prstGeom prst="roundRect">
              <a:avLst/>
            </a:prstGeom>
            <a:solidFill>
              <a:srgbClr val="DCF6E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574" tIns="18287" rIns="36574" bIns="18287" rtlCol="0" anchor="ctr"/>
            <a:lstStyle/>
            <a:p>
              <a:pPr algn="ctr">
                <a:defRPr sz="850" b="1">
                  <a:solidFill>
                    <a:srgbClr val="1E6E69"/>
                  </a:solidFill>
                  <a:latin typeface="Aptos"/>
                </a:defRPr>
              </a:pPr>
              <a:r>
                <a:rPr lang="en-US" sz="1700" noProof="0" dirty="0"/>
                <a:t>software</a:t>
              </a:r>
            </a:p>
          </p:txBody>
        </p:sp>
      </p:grpSp>
      <p:sp>
        <p:nvSpPr>
          <p:cNvPr id="31" name="TextBox 30"/>
          <p:cNvSpPr txBox="1"/>
          <p:nvPr/>
        </p:nvSpPr>
        <p:spPr>
          <a:xfrm>
            <a:off x="23105209" y="12892648"/>
            <a:ext cx="247046" cy="344708"/>
          </a:xfrm>
          <a:prstGeom prst="rect">
            <a:avLst/>
          </a:prstGeom>
          <a:noFill/>
        </p:spPr>
        <p:txBody>
          <a:bodyPr wrap="none" lIns="54860" tIns="18287" rIns="54860" bIns="18287">
            <a:spAutoFit/>
          </a:bodyPr>
          <a:lstStyle/>
          <a:p>
            <a:pPr algn="r">
              <a:defRPr sz="1000" b="0">
                <a:solidFill>
                  <a:srgbClr val="8291A5"/>
                </a:solidFill>
                <a:latin typeface="Aptos"/>
              </a:defRPr>
            </a:pPr>
            <a:r>
              <a:rPr lang="en-US" sz="2000" noProof="0" dirty="0"/>
              <a:t>2</a:t>
            </a:r>
          </a:p>
        </p:txBody>
      </p:sp>
      <p:sp>
        <p:nvSpPr>
          <p:cNvPr id="34" name="Élőláb helye 3">
            <a:extLst>
              <a:ext uri="{FF2B5EF4-FFF2-40B4-BE49-F238E27FC236}">
                <a16:creationId xmlns:a16="http://schemas.microsoft.com/office/drawing/2014/main" id="{F0301059-7446-2337-11BC-E58838BF51CF}"/>
              </a:ext>
            </a:extLst>
          </p:cNvPr>
          <p:cNvSpPr txBox="1">
            <a:spLocks/>
          </p:cNvSpPr>
          <p:nvPr/>
        </p:nvSpPr>
        <p:spPr>
          <a:xfrm>
            <a:off x="1153220" y="12574479"/>
            <a:ext cx="9957167" cy="730250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noProof="0" dirty="0">
                <a:solidFill>
                  <a:schemeClr val="bg1"/>
                </a:solidFill>
              </a:rPr>
              <a:t>Understanding BERT for Medical Text Classification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3782" y="823353"/>
            <a:ext cx="22127039" cy="822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200" b="1" noProof="0" dirty="0">
                <a:solidFill>
                  <a:srgbClr val="172C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objectives</a:t>
            </a:r>
            <a:endParaRPr lang="en-US" sz="6200" noProof="0" dirty="0"/>
          </a:p>
        </p:txBody>
      </p:sp>
      <p:sp>
        <p:nvSpPr>
          <p:cNvPr id="12" name="Text 10"/>
          <p:cNvSpPr/>
          <p:nvPr/>
        </p:nvSpPr>
        <p:spPr>
          <a:xfrm>
            <a:off x="23132814" y="12892647"/>
            <a:ext cx="640038" cy="329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700" noProof="0" dirty="0">
                <a:solidFill>
                  <a:srgbClr val="607280"/>
                </a:solidFill>
              </a:rPr>
              <a:t>3</a:t>
            </a:r>
            <a:endParaRPr lang="en-US" sz="1700" noProof="0" dirty="0"/>
          </a:p>
        </p:txBody>
      </p:sp>
      <p:sp>
        <p:nvSpPr>
          <p:cNvPr id="13" name="TextBox 2">
            <a:extLst>
              <a:ext uri="{FF2B5EF4-FFF2-40B4-BE49-F238E27FC236}">
                <a16:creationId xmlns:a16="http://schemas.microsoft.com/office/drawing/2014/main" id="{50138A22-0AC1-66DC-FBC6-F43B8342E0AB}"/>
              </a:ext>
            </a:extLst>
          </p:cNvPr>
          <p:cNvSpPr txBox="1"/>
          <p:nvPr/>
        </p:nvSpPr>
        <p:spPr>
          <a:xfrm>
            <a:off x="1060634" y="1737695"/>
            <a:ext cx="10203298" cy="529374"/>
          </a:xfrm>
          <a:prstGeom prst="rect">
            <a:avLst/>
          </a:prstGeom>
          <a:noFill/>
        </p:spPr>
        <p:txBody>
          <a:bodyPr wrap="none" lIns="54860" tIns="18287" rIns="54860" bIns="18287">
            <a:spAutoFit/>
          </a:bodyPr>
          <a:lstStyle/>
          <a:p>
            <a:r>
              <a:rPr lang="en-US" sz="3200" noProof="0" dirty="0">
                <a:solidFill>
                  <a:srgbClr val="607280"/>
                </a:solidFill>
              </a:rPr>
              <a:t>By the end of the tutorial, you should be able to explain:</a:t>
            </a:r>
            <a:endParaRPr lang="en-US" sz="3200" noProof="0" dirty="0"/>
          </a:p>
        </p:txBody>
      </p:sp>
      <p:sp>
        <p:nvSpPr>
          <p:cNvPr id="14" name="Élőláb helye 3">
            <a:extLst>
              <a:ext uri="{FF2B5EF4-FFF2-40B4-BE49-F238E27FC236}">
                <a16:creationId xmlns:a16="http://schemas.microsoft.com/office/drawing/2014/main" id="{9B4857C1-DE6D-72E6-25FE-94912EBAD702}"/>
              </a:ext>
            </a:extLst>
          </p:cNvPr>
          <p:cNvSpPr txBox="1">
            <a:spLocks/>
          </p:cNvSpPr>
          <p:nvPr/>
        </p:nvSpPr>
        <p:spPr>
          <a:xfrm>
            <a:off x="1153220" y="12574479"/>
            <a:ext cx="9957167" cy="730250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noProof="0" dirty="0">
                <a:solidFill>
                  <a:schemeClr val="bg1"/>
                </a:solidFill>
              </a:rPr>
              <a:t>Understanding BERT for Medical Text Classification</a:t>
            </a:r>
          </a:p>
        </p:txBody>
      </p:sp>
      <p:sp>
        <p:nvSpPr>
          <p:cNvPr id="17" name="Tartalom helye 2">
            <a:extLst>
              <a:ext uri="{FF2B5EF4-FFF2-40B4-BE49-F238E27FC236}">
                <a16:creationId xmlns:a16="http://schemas.microsoft.com/office/drawing/2014/main" id="{615F5A0C-6901-C0B0-C388-BBEC232ED4DC}"/>
              </a:ext>
            </a:extLst>
          </p:cNvPr>
          <p:cNvSpPr txBox="1">
            <a:spLocks/>
          </p:cNvSpPr>
          <p:nvPr/>
        </p:nvSpPr>
        <p:spPr>
          <a:xfrm>
            <a:off x="1473792" y="3694176"/>
            <a:ext cx="21029831" cy="7672197"/>
          </a:xfrm>
          <a:prstGeom prst="rect">
            <a:avLst/>
          </a:prstGeom>
        </p:spPr>
        <p:txBody>
          <a:bodyPr/>
          <a:lstStyle>
            <a:lvl1pPr marL="457177" indent="-457177" algn="l" defTabSz="1828709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53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5886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240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594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8949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303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7657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01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42950" indent="-742950">
              <a:spcBef>
                <a:spcPts val="3000"/>
              </a:spcBef>
              <a:buFont typeface="+mj-lt"/>
              <a:buAutoNum type="arabicPeriod"/>
            </a:pPr>
            <a:r>
              <a:rPr lang="en-US" sz="4400" noProof="0" dirty="0">
                <a:solidFill>
                  <a:srgbClr val="172C3A"/>
                </a:solidFill>
              </a:rPr>
              <a:t>how natural language becomes machine-readable input</a:t>
            </a:r>
            <a:endParaRPr lang="en-US" sz="4400" noProof="0" dirty="0"/>
          </a:p>
          <a:p>
            <a:pPr marL="742950" indent="-742950">
              <a:spcBef>
                <a:spcPts val="3000"/>
              </a:spcBef>
              <a:buFont typeface="+mj-lt"/>
              <a:buAutoNum type="arabicPeriod"/>
            </a:pPr>
            <a:r>
              <a:rPr lang="en-US" sz="4400" noProof="0" dirty="0">
                <a:solidFill>
                  <a:srgbClr val="172C3A"/>
                </a:solidFill>
              </a:rPr>
              <a:t>what an embedding represents intuitively</a:t>
            </a:r>
            <a:endParaRPr lang="en-US" sz="4400" noProof="0" dirty="0"/>
          </a:p>
          <a:p>
            <a:pPr marL="742950" indent="-742950">
              <a:spcBef>
                <a:spcPts val="3000"/>
              </a:spcBef>
              <a:buFont typeface="+mj-lt"/>
              <a:buAutoNum type="arabicPeriod"/>
            </a:pPr>
            <a:r>
              <a:rPr lang="en-US" sz="4400" noProof="0" dirty="0">
                <a:solidFill>
                  <a:srgbClr val="172C3A"/>
                </a:solidFill>
              </a:rPr>
              <a:t>why context can change the representation of a word</a:t>
            </a:r>
            <a:endParaRPr lang="en-US" sz="4400" noProof="0" dirty="0"/>
          </a:p>
          <a:p>
            <a:pPr marL="742950" indent="-742950">
              <a:spcBef>
                <a:spcPts val="3000"/>
              </a:spcBef>
              <a:buFont typeface="+mj-lt"/>
              <a:buAutoNum type="arabicPeriod"/>
            </a:pPr>
            <a:r>
              <a:rPr lang="en-US" sz="4400" noProof="0" dirty="0">
                <a:solidFill>
                  <a:srgbClr val="172C3A"/>
                </a:solidFill>
              </a:rPr>
              <a:t>how a pretrained BERT model is adapted for a classification task</a:t>
            </a:r>
            <a:endParaRPr lang="en-US" sz="4400" noProof="0" dirty="0"/>
          </a:p>
          <a:p>
            <a:pPr marL="742950" indent="-742950">
              <a:spcBef>
                <a:spcPts val="3000"/>
              </a:spcBef>
              <a:buFont typeface="+mj-lt"/>
              <a:buAutoNum type="arabicPeriod"/>
            </a:pPr>
            <a:r>
              <a:rPr lang="en-US" sz="4400" noProof="0" dirty="0">
                <a:solidFill>
                  <a:srgbClr val="172C3A"/>
                </a:solidFill>
              </a:rPr>
              <a:t>how attention gives a first window into the model’s internal behavior</a:t>
            </a:r>
            <a:endParaRPr lang="en-US" sz="4400" noProof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3782" y="823353"/>
            <a:ext cx="22127039" cy="822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200" b="1" noProof="0" dirty="0">
                <a:solidFill>
                  <a:srgbClr val="172C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Our task: general vs. medical information</a:t>
            </a:r>
            <a:endParaRPr lang="en-US" sz="6200" noProof="0" dirty="0"/>
          </a:p>
        </p:txBody>
      </p:sp>
      <p:sp>
        <p:nvSpPr>
          <p:cNvPr id="4" name="Text 2"/>
          <p:cNvSpPr/>
          <p:nvPr/>
        </p:nvSpPr>
        <p:spPr>
          <a:xfrm>
            <a:off x="1499518" y="3749242"/>
            <a:ext cx="4388834" cy="585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00" b="1" noProof="0" dirty="0">
                <a:solidFill>
                  <a:srgbClr val="172C3A"/>
                </a:solidFill>
              </a:rPr>
              <a:t>Input examples</a:t>
            </a:r>
            <a:endParaRPr lang="en-US" sz="3400" noProof="0" dirty="0"/>
          </a:p>
        </p:txBody>
      </p:sp>
      <p:sp>
        <p:nvSpPr>
          <p:cNvPr id="5" name="Text 3"/>
          <p:cNvSpPr/>
          <p:nvPr/>
        </p:nvSpPr>
        <p:spPr>
          <a:xfrm>
            <a:off x="1499518" y="4663583"/>
            <a:ext cx="6180942" cy="1408085"/>
          </a:xfrm>
          <a:prstGeom prst="rect">
            <a:avLst/>
          </a:prstGeom>
          <a:solidFill>
            <a:srgbClr val="FFFFFF"/>
          </a:solidFill>
          <a:ln>
            <a:solidFill>
              <a:srgbClr val="D0D8DD"/>
            </a:solidFill>
          </a:ln>
        </p:spPr>
        <p:txBody>
          <a:bodyPr wrap="square" lIns="2032" tIns="2032" rIns="2032" bIns="2032" rtlCol="0" anchor="ctr"/>
          <a:lstStyle/>
          <a:p>
            <a:pPr algn="ctr"/>
            <a:r>
              <a:rPr lang="en-US" sz="3000" i="1" noProof="0" dirty="0">
                <a:solidFill>
                  <a:srgbClr val="172C3A"/>
                </a:solidFill>
              </a:rPr>
              <a:t>“The young female patient suffers</a:t>
            </a:r>
            <a:endParaRPr lang="en-US" sz="3000" noProof="0" dirty="0"/>
          </a:p>
          <a:p>
            <a:pPr algn="ctr"/>
            <a:r>
              <a:rPr lang="en-US" sz="3000" i="1" noProof="0" dirty="0">
                <a:solidFill>
                  <a:srgbClr val="172C3A"/>
                </a:solidFill>
              </a:rPr>
              <a:t>from chronic </a:t>
            </a:r>
            <a:r>
              <a:rPr lang="en-US" sz="3000" b="1" i="1" noProof="0" dirty="0">
                <a:solidFill>
                  <a:srgbClr val="172C3A"/>
                </a:solidFill>
              </a:rPr>
              <a:t>headaches</a:t>
            </a:r>
            <a:r>
              <a:rPr lang="en-US" sz="3000" i="1" noProof="0" dirty="0">
                <a:solidFill>
                  <a:srgbClr val="172C3A"/>
                </a:solidFill>
              </a:rPr>
              <a:t>.”</a:t>
            </a:r>
            <a:endParaRPr lang="en-US" sz="3000" noProof="0" dirty="0"/>
          </a:p>
        </p:txBody>
      </p:sp>
      <p:sp>
        <p:nvSpPr>
          <p:cNvPr id="6" name="Text 4"/>
          <p:cNvSpPr/>
          <p:nvPr/>
        </p:nvSpPr>
        <p:spPr>
          <a:xfrm>
            <a:off x="1499518" y="6528837"/>
            <a:ext cx="6180942" cy="1408085"/>
          </a:xfrm>
          <a:prstGeom prst="rect">
            <a:avLst/>
          </a:prstGeom>
          <a:solidFill>
            <a:srgbClr val="FFFFFF"/>
          </a:solidFill>
          <a:ln>
            <a:solidFill>
              <a:srgbClr val="D0D8DD"/>
            </a:solidFill>
          </a:ln>
        </p:spPr>
        <p:txBody>
          <a:bodyPr wrap="square" lIns="2032" tIns="2032" rIns="2032" bIns="2032" rtlCol="0" anchor="ctr"/>
          <a:lstStyle/>
          <a:p>
            <a:pPr algn="ctr"/>
            <a:r>
              <a:rPr lang="en-US" sz="3000" i="1" noProof="0" dirty="0">
                <a:solidFill>
                  <a:srgbClr val="172C3A"/>
                </a:solidFill>
              </a:rPr>
              <a:t>“The hospital's new meal plan is a real </a:t>
            </a:r>
            <a:r>
              <a:rPr lang="en-US" sz="3000" b="1" i="1" noProof="0" dirty="0">
                <a:solidFill>
                  <a:srgbClr val="172C3A"/>
                </a:solidFill>
              </a:rPr>
              <a:t>headache</a:t>
            </a:r>
            <a:r>
              <a:rPr lang="en-US" sz="3000" i="1" noProof="0" dirty="0">
                <a:solidFill>
                  <a:srgbClr val="172C3A"/>
                </a:solidFill>
              </a:rPr>
              <a:t> for the kitchen staff.”</a:t>
            </a:r>
            <a:endParaRPr lang="en-US" sz="3000" noProof="0" dirty="0"/>
          </a:p>
        </p:txBody>
      </p:sp>
      <p:sp>
        <p:nvSpPr>
          <p:cNvPr id="7" name="Shape 5"/>
          <p:cNvSpPr/>
          <p:nvPr/>
        </p:nvSpPr>
        <p:spPr>
          <a:xfrm>
            <a:off x="8137630" y="6254535"/>
            <a:ext cx="1280077" cy="0"/>
          </a:xfrm>
          <a:prstGeom prst="line">
            <a:avLst/>
          </a:prstGeom>
          <a:noFill/>
          <a:ln w="25400">
            <a:solidFill>
              <a:srgbClr val="0EA5A5"/>
            </a:solidFill>
            <a:prstDash val="solid"/>
            <a:tailEnd type="triangle"/>
          </a:ln>
        </p:spPr>
        <p:txBody>
          <a:bodyPr/>
          <a:lstStyle/>
          <a:p>
            <a:endParaRPr lang="en-US" sz="3600" noProof="0" dirty="0"/>
          </a:p>
        </p:txBody>
      </p:sp>
      <p:sp>
        <p:nvSpPr>
          <p:cNvPr id="8" name="Text 6"/>
          <p:cNvSpPr/>
          <p:nvPr/>
        </p:nvSpPr>
        <p:spPr>
          <a:xfrm>
            <a:off x="9783443" y="4663583"/>
            <a:ext cx="4023098" cy="3145331"/>
          </a:xfrm>
          <a:prstGeom prst="rect">
            <a:avLst/>
          </a:prstGeom>
          <a:solidFill>
            <a:srgbClr val="DDF5F3"/>
          </a:solidFill>
          <a:ln>
            <a:solidFill>
              <a:srgbClr val="0EA5A5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ctr"/>
            <a:r>
              <a:rPr lang="en-US" sz="4400" b="1" noProof="0" dirty="0">
                <a:solidFill>
                  <a:srgbClr val="172C3A"/>
                </a:solidFill>
              </a:rPr>
              <a:t>Pretrained</a:t>
            </a:r>
            <a:endParaRPr lang="en-US" sz="4400" noProof="0" dirty="0"/>
          </a:p>
          <a:p>
            <a:pPr algn="ctr"/>
            <a:r>
              <a:rPr lang="en-US" sz="4400" b="1" noProof="0" dirty="0">
                <a:solidFill>
                  <a:srgbClr val="172C3A"/>
                </a:solidFill>
              </a:rPr>
              <a:t>BERT</a:t>
            </a:r>
            <a:endParaRPr lang="en-US" sz="4400" noProof="0" dirty="0"/>
          </a:p>
        </p:txBody>
      </p:sp>
      <p:sp>
        <p:nvSpPr>
          <p:cNvPr id="9" name="Text 7"/>
          <p:cNvSpPr/>
          <p:nvPr/>
        </p:nvSpPr>
        <p:spPr>
          <a:xfrm>
            <a:off x="9417707" y="8266084"/>
            <a:ext cx="4754570" cy="5120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2200" noProof="0" dirty="0">
                <a:solidFill>
                  <a:srgbClr val="607280"/>
                </a:solidFill>
              </a:rPr>
              <a:t>general language understanding</a:t>
            </a:r>
            <a:endParaRPr lang="en-US" sz="2200" noProof="0" dirty="0"/>
          </a:p>
        </p:txBody>
      </p:sp>
      <p:sp>
        <p:nvSpPr>
          <p:cNvPr id="10" name="Shape 8"/>
          <p:cNvSpPr/>
          <p:nvPr/>
        </p:nvSpPr>
        <p:spPr>
          <a:xfrm>
            <a:off x="14190564" y="6254535"/>
            <a:ext cx="1316650" cy="0"/>
          </a:xfrm>
          <a:prstGeom prst="line">
            <a:avLst/>
          </a:prstGeom>
          <a:noFill/>
          <a:ln w="25400">
            <a:solidFill>
              <a:srgbClr val="0EA5A5"/>
            </a:solidFill>
            <a:prstDash val="solid"/>
            <a:tailEnd type="triangle"/>
          </a:ln>
        </p:spPr>
        <p:txBody>
          <a:bodyPr/>
          <a:lstStyle/>
          <a:p>
            <a:endParaRPr lang="en-US" sz="3600" noProof="0" dirty="0"/>
          </a:p>
        </p:txBody>
      </p:sp>
      <p:sp>
        <p:nvSpPr>
          <p:cNvPr id="11" name="Text 9"/>
          <p:cNvSpPr/>
          <p:nvPr/>
        </p:nvSpPr>
        <p:spPr>
          <a:xfrm>
            <a:off x="15909524" y="5084180"/>
            <a:ext cx="3657362" cy="2285851"/>
          </a:xfrm>
          <a:prstGeom prst="rect">
            <a:avLst/>
          </a:prstGeom>
          <a:solidFill>
            <a:srgbClr val="FFF2CF"/>
          </a:solidFill>
          <a:ln>
            <a:solidFill>
              <a:srgbClr val="FFC857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ctr"/>
            <a:r>
              <a:rPr lang="en-US" sz="3600" b="1" noProof="0" dirty="0">
                <a:solidFill>
                  <a:srgbClr val="172C3A"/>
                </a:solidFill>
              </a:rPr>
              <a:t>Classification</a:t>
            </a:r>
            <a:endParaRPr lang="en-US" sz="3600" noProof="0" dirty="0"/>
          </a:p>
          <a:p>
            <a:pPr algn="ctr"/>
            <a:r>
              <a:rPr lang="en-US" sz="3600" b="1" noProof="0" dirty="0">
                <a:solidFill>
                  <a:srgbClr val="172C3A"/>
                </a:solidFill>
              </a:rPr>
              <a:t>head</a:t>
            </a:r>
            <a:endParaRPr lang="en-US" sz="3600" noProof="0" dirty="0"/>
          </a:p>
        </p:txBody>
      </p:sp>
      <p:sp>
        <p:nvSpPr>
          <p:cNvPr id="12" name="Shape 10"/>
          <p:cNvSpPr/>
          <p:nvPr/>
        </p:nvSpPr>
        <p:spPr>
          <a:xfrm>
            <a:off x="19932622" y="6254535"/>
            <a:ext cx="640039" cy="0"/>
          </a:xfrm>
          <a:prstGeom prst="line">
            <a:avLst/>
          </a:prstGeom>
          <a:noFill/>
          <a:ln w="25400">
            <a:solidFill>
              <a:srgbClr val="0EA5A5"/>
            </a:solidFill>
            <a:prstDash val="solid"/>
            <a:tailEnd type="triangle"/>
          </a:ln>
        </p:spPr>
        <p:txBody>
          <a:bodyPr/>
          <a:lstStyle/>
          <a:p>
            <a:endParaRPr lang="en-US" sz="3600" noProof="0" dirty="0"/>
          </a:p>
        </p:txBody>
      </p:sp>
      <p:sp>
        <p:nvSpPr>
          <p:cNvPr id="13" name="Text 11"/>
          <p:cNvSpPr/>
          <p:nvPr/>
        </p:nvSpPr>
        <p:spPr>
          <a:xfrm>
            <a:off x="20883536" y="3996115"/>
            <a:ext cx="2011549" cy="548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00" b="1" noProof="0" dirty="0">
                <a:solidFill>
                  <a:srgbClr val="172C3A"/>
                </a:solidFill>
              </a:rPr>
              <a:t>Output</a:t>
            </a:r>
            <a:endParaRPr lang="en-US" sz="3400" noProof="0" dirty="0"/>
          </a:p>
        </p:txBody>
      </p:sp>
      <p:sp>
        <p:nvSpPr>
          <p:cNvPr id="14" name="Text 12"/>
          <p:cNvSpPr/>
          <p:nvPr/>
        </p:nvSpPr>
        <p:spPr>
          <a:xfrm>
            <a:off x="20883536" y="4974459"/>
            <a:ext cx="2834455" cy="402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noProof="0" dirty="0">
                <a:solidFill>
                  <a:srgbClr val="607280"/>
                </a:solidFill>
              </a:rPr>
              <a:t>General information</a:t>
            </a:r>
            <a:endParaRPr lang="en-US" sz="2100" noProof="0" dirty="0"/>
          </a:p>
        </p:txBody>
      </p:sp>
      <p:sp>
        <p:nvSpPr>
          <p:cNvPr id="15" name="Shape 13"/>
          <p:cNvSpPr/>
          <p:nvPr/>
        </p:nvSpPr>
        <p:spPr>
          <a:xfrm>
            <a:off x="20883536" y="5577923"/>
            <a:ext cx="822906" cy="365736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  <p:txBody>
          <a:bodyPr/>
          <a:lstStyle/>
          <a:p>
            <a:endParaRPr lang="en-US" sz="3600" noProof="0" dirty="0"/>
          </a:p>
        </p:txBody>
      </p:sp>
      <p:sp>
        <p:nvSpPr>
          <p:cNvPr id="16" name="Text 14"/>
          <p:cNvSpPr/>
          <p:nvPr/>
        </p:nvSpPr>
        <p:spPr>
          <a:xfrm>
            <a:off x="22035605" y="5468202"/>
            <a:ext cx="1133782" cy="512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noProof="0" dirty="0">
                <a:solidFill>
                  <a:srgbClr val="172C3A"/>
                </a:solidFill>
              </a:rPr>
              <a:t>18%</a:t>
            </a:r>
            <a:endParaRPr lang="en-US" sz="2400" noProof="0" dirty="0"/>
          </a:p>
        </p:txBody>
      </p:sp>
      <p:sp>
        <p:nvSpPr>
          <p:cNvPr id="17" name="Text 15"/>
          <p:cNvSpPr/>
          <p:nvPr/>
        </p:nvSpPr>
        <p:spPr>
          <a:xfrm>
            <a:off x="20883536" y="6528837"/>
            <a:ext cx="3017324" cy="402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noProof="0" dirty="0">
                <a:solidFill>
                  <a:srgbClr val="607280"/>
                </a:solidFill>
              </a:rPr>
              <a:t>Medical information</a:t>
            </a:r>
            <a:endParaRPr lang="en-US" sz="2100" noProof="0" dirty="0"/>
          </a:p>
        </p:txBody>
      </p:sp>
      <p:sp>
        <p:nvSpPr>
          <p:cNvPr id="18" name="Shape 16"/>
          <p:cNvSpPr/>
          <p:nvPr/>
        </p:nvSpPr>
        <p:spPr>
          <a:xfrm>
            <a:off x="20883536" y="7132302"/>
            <a:ext cx="1920115" cy="365736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 sz="3600" noProof="0" dirty="0"/>
          </a:p>
        </p:txBody>
      </p:sp>
      <p:sp>
        <p:nvSpPr>
          <p:cNvPr id="19" name="Text 17"/>
          <p:cNvSpPr/>
          <p:nvPr/>
        </p:nvSpPr>
        <p:spPr>
          <a:xfrm>
            <a:off x="22949946" y="7022581"/>
            <a:ext cx="1133782" cy="512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noProof="0" dirty="0">
                <a:solidFill>
                  <a:srgbClr val="172C3A"/>
                </a:solidFill>
              </a:rPr>
              <a:t>82%</a:t>
            </a:r>
            <a:endParaRPr lang="en-US" sz="2400" noProof="0" dirty="0"/>
          </a:p>
        </p:txBody>
      </p:sp>
      <p:sp>
        <p:nvSpPr>
          <p:cNvPr id="20" name="Text 18"/>
          <p:cNvSpPr/>
          <p:nvPr/>
        </p:nvSpPr>
        <p:spPr>
          <a:xfrm>
            <a:off x="3931664" y="10332494"/>
            <a:ext cx="16640997" cy="768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200" b="1" noProof="0" dirty="0">
                <a:solidFill>
                  <a:srgbClr val="087D7D"/>
                </a:solidFill>
              </a:rPr>
              <a:t>The tutorial shows how this decision is built from text representations.</a:t>
            </a:r>
            <a:endParaRPr lang="en-US" sz="4200" noProof="0" dirty="0"/>
          </a:p>
        </p:txBody>
      </p:sp>
      <p:sp>
        <p:nvSpPr>
          <p:cNvPr id="21" name="Text 19"/>
          <p:cNvSpPr/>
          <p:nvPr/>
        </p:nvSpPr>
        <p:spPr>
          <a:xfrm>
            <a:off x="23132814" y="12892647"/>
            <a:ext cx="640038" cy="329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700" noProof="0" dirty="0">
                <a:solidFill>
                  <a:srgbClr val="607280"/>
                </a:solidFill>
              </a:rPr>
              <a:t>4</a:t>
            </a:r>
            <a:endParaRPr lang="en-US" sz="1700" noProof="0" dirty="0"/>
          </a:p>
        </p:txBody>
      </p:sp>
      <p:sp>
        <p:nvSpPr>
          <p:cNvPr id="22" name="TextBox 2">
            <a:extLst>
              <a:ext uri="{FF2B5EF4-FFF2-40B4-BE49-F238E27FC236}">
                <a16:creationId xmlns:a16="http://schemas.microsoft.com/office/drawing/2014/main" id="{5162684D-811B-242C-B5A1-229BF8C9C3B2}"/>
              </a:ext>
            </a:extLst>
          </p:cNvPr>
          <p:cNvSpPr txBox="1"/>
          <p:nvPr/>
        </p:nvSpPr>
        <p:spPr>
          <a:xfrm>
            <a:off x="1060634" y="1737695"/>
            <a:ext cx="13766389" cy="498596"/>
          </a:xfrm>
          <a:prstGeom prst="rect">
            <a:avLst/>
          </a:prstGeom>
          <a:noFill/>
        </p:spPr>
        <p:txBody>
          <a:bodyPr wrap="none" lIns="54860" tIns="18287" rIns="54860" bIns="18287">
            <a:spAutoFit/>
          </a:bodyPr>
          <a:lstStyle/>
          <a:p>
            <a:pPr>
              <a:defRPr sz="1500" b="0">
                <a:solidFill>
                  <a:srgbClr val="5B697D"/>
                </a:solidFill>
                <a:latin typeface="Aptos"/>
              </a:defRPr>
            </a:pPr>
            <a:r>
              <a:rPr lang="en-US" sz="3000" noProof="0" dirty="0"/>
              <a:t>We start with ordinary sentences and ask the model to choose between two labels.</a:t>
            </a:r>
          </a:p>
        </p:txBody>
      </p:sp>
      <p:sp>
        <p:nvSpPr>
          <p:cNvPr id="23" name="Élőláb helye 3">
            <a:extLst>
              <a:ext uri="{FF2B5EF4-FFF2-40B4-BE49-F238E27FC236}">
                <a16:creationId xmlns:a16="http://schemas.microsoft.com/office/drawing/2014/main" id="{466CF2E6-510B-3077-AE6A-F838D3614FEA}"/>
              </a:ext>
            </a:extLst>
          </p:cNvPr>
          <p:cNvSpPr txBox="1">
            <a:spLocks/>
          </p:cNvSpPr>
          <p:nvPr/>
        </p:nvSpPr>
        <p:spPr>
          <a:xfrm>
            <a:off x="1153220" y="12574479"/>
            <a:ext cx="9957167" cy="730250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noProof="0" dirty="0">
                <a:solidFill>
                  <a:schemeClr val="bg1"/>
                </a:solidFill>
              </a:rPr>
              <a:t>Understanding BERT for Medical Text Classification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ounded Rectangle 47">
            <a:extLst>
              <a:ext uri="{FF2B5EF4-FFF2-40B4-BE49-F238E27FC236}">
                <a16:creationId xmlns:a16="http://schemas.microsoft.com/office/drawing/2014/main" id="{8E824439-D501-44FF-B451-55E94B8E3932}"/>
              </a:ext>
            </a:extLst>
          </p:cNvPr>
          <p:cNvSpPr/>
          <p:nvPr/>
        </p:nvSpPr>
        <p:spPr>
          <a:xfrm>
            <a:off x="1618284" y="8867110"/>
            <a:ext cx="5483556" cy="2784474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DB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34" name="Csoportba foglalás 33">
            <a:extLst>
              <a:ext uri="{FF2B5EF4-FFF2-40B4-BE49-F238E27FC236}">
                <a16:creationId xmlns:a16="http://schemas.microsoft.com/office/drawing/2014/main" id="{3766D89A-803A-63DD-775D-BFD96EFB4974}"/>
              </a:ext>
            </a:extLst>
          </p:cNvPr>
          <p:cNvGrpSpPr/>
          <p:nvPr/>
        </p:nvGrpSpPr>
        <p:grpSpPr>
          <a:xfrm>
            <a:off x="1525607" y="9637595"/>
            <a:ext cx="5668911" cy="1243504"/>
            <a:chOff x="2285851" y="9418153"/>
            <a:chExt cx="5668911" cy="1243504"/>
          </a:xfrm>
        </p:grpSpPr>
        <p:sp>
          <p:nvSpPr>
            <p:cNvPr id="23" name="Text 21"/>
            <p:cNvSpPr/>
            <p:nvPr/>
          </p:nvSpPr>
          <p:spPr>
            <a:xfrm>
              <a:off x="2651587" y="9418153"/>
              <a:ext cx="4937439" cy="5120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800" b="1" noProof="0" dirty="0">
                  <a:solidFill>
                    <a:srgbClr val="607280"/>
                  </a:solidFill>
                </a:rPr>
                <a:t>Before attention</a:t>
              </a:r>
              <a:endParaRPr lang="en-US" sz="2800" noProof="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2285851" y="10149626"/>
              <a:ext cx="5668911" cy="5120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600" noProof="0" dirty="0">
                  <a:solidFill>
                    <a:srgbClr val="607280"/>
                  </a:solidFill>
                </a:rPr>
                <a:t>words mostly as fixed units</a:t>
              </a:r>
              <a:endParaRPr lang="en-US" sz="2600" noProof="0" dirty="0"/>
            </a:p>
          </p:txBody>
        </p:sp>
      </p:grpSp>
      <p:sp>
        <p:nvSpPr>
          <p:cNvPr id="31" name="Rounded Rectangle 47">
            <a:extLst>
              <a:ext uri="{FF2B5EF4-FFF2-40B4-BE49-F238E27FC236}">
                <a16:creationId xmlns:a16="http://schemas.microsoft.com/office/drawing/2014/main" id="{57A1A20C-AE9F-D00A-F365-0C8B09AA2007}"/>
              </a:ext>
            </a:extLst>
          </p:cNvPr>
          <p:cNvSpPr/>
          <p:nvPr/>
        </p:nvSpPr>
        <p:spPr>
          <a:xfrm>
            <a:off x="12895822" y="8757389"/>
            <a:ext cx="5483556" cy="2784474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DB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ext 0"/>
          <p:cNvSpPr/>
          <p:nvPr/>
        </p:nvSpPr>
        <p:spPr>
          <a:xfrm>
            <a:off x="1133782" y="823353"/>
            <a:ext cx="22127039" cy="822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200" b="1" noProof="0" dirty="0">
                <a:solidFill>
                  <a:srgbClr val="172C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is it relevant today</a:t>
            </a:r>
            <a:endParaRPr lang="en-US" sz="6200" noProof="0" dirty="0"/>
          </a:p>
        </p:txBody>
      </p:sp>
      <p:sp>
        <p:nvSpPr>
          <p:cNvPr id="4" name="Shape 2"/>
          <p:cNvSpPr/>
          <p:nvPr/>
        </p:nvSpPr>
        <p:spPr>
          <a:xfrm>
            <a:off x="2194417" y="6803140"/>
            <a:ext cx="20115490" cy="0"/>
          </a:xfrm>
          <a:prstGeom prst="line">
            <a:avLst/>
          </a:prstGeom>
          <a:noFill/>
          <a:ln w="25400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 sz="3600" noProof="0" dirty="0"/>
          </a:p>
        </p:txBody>
      </p:sp>
      <p:sp>
        <p:nvSpPr>
          <p:cNvPr id="5" name="Shape 3"/>
          <p:cNvSpPr/>
          <p:nvPr/>
        </p:nvSpPr>
        <p:spPr>
          <a:xfrm>
            <a:off x="2139556" y="6656845"/>
            <a:ext cx="292589" cy="292589"/>
          </a:xfrm>
          <a:prstGeom prst="ellipse">
            <a:avLst/>
          </a:prstGeom>
          <a:solidFill>
            <a:srgbClr val="172C3A"/>
          </a:solidFill>
          <a:ln w="12700">
            <a:solidFill>
              <a:srgbClr val="172C3A"/>
            </a:solidFill>
            <a:prstDash val="solid"/>
          </a:ln>
        </p:spPr>
        <p:txBody>
          <a:bodyPr/>
          <a:lstStyle/>
          <a:p>
            <a:endParaRPr lang="en-US" sz="3600" noProof="0" dirty="0"/>
          </a:p>
        </p:txBody>
      </p:sp>
      <p:sp>
        <p:nvSpPr>
          <p:cNvPr id="6" name="Text 4"/>
          <p:cNvSpPr/>
          <p:nvPr/>
        </p:nvSpPr>
        <p:spPr>
          <a:xfrm>
            <a:off x="1152069" y="4517289"/>
            <a:ext cx="2285851" cy="131665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ctr"/>
            <a:r>
              <a:rPr lang="en-US" sz="2800" b="1" noProof="0" dirty="0">
                <a:solidFill>
                  <a:srgbClr val="172C3A"/>
                </a:solidFill>
              </a:rPr>
              <a:t>Word</a:t>
            </a:r>
            <a:endParaRPr lang="en-US" sz="2800" noProof="0" dirty="0"/>
          </a:p>
          <a:p>
            <a:pPr algn="ctr"/>
            <a:r>
              <a:rPr lang="en-US" sz="2800" b="1" noProof="0" dirty="0">
                <a:solidFill>
                  <a:srgbClr val="172C3A"/>
                </a:solidFill>
              </a:rPr>
              <a:t>embeddings</a:t>
            </a:r>
            <a:endParaRPr lang="en-US" sz="2800" noProof="0" dirty="0"/>
          </a:p>
        </p:txBody>
      </p:sp>
      <p:sp>
        <p:nvSpPr>
          <p:cNvPr id="7" name="Text 5"/>
          <p:cNvSpPr/>
          <p:nvPr/>
        </p:nvSpPr>
        <p:spPr>
          <a:xfrm>
            <a:off x="1462944" y="7260310"/>
            <a:ext cx="1645813" cy="5120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2200" noProof="0" dirty="0">
                <a:solidFill>
                  <a:srgbClr val="607280"/>
                </a:solidFill>
              </a:rPr>
              <a:t>2013</a:t>
            </a:r>
            <a:endParaRPr lang="en-US" sz="2200" noProof="0" dirty="0"/>
          </a:p>
        </p:txBody>
      </p:sp>
      <p:sp>
        <p:nvSpPr>
          <p:cNvPr id="8" name="Shape 6"/>
          <p:cNvSpPr/>
          <p:nvPr/>
        </p:nvSpPr>
        <p:spPr>
          <a:xfrm>
            <a:off x="5888352" y="6656845"/>
            <a:ext cx="292589" cy="292589"/>
          </a:xfrm>
          <a:prstGeom prst="ellipse">
            <a:avLst/>
          </a:prstGeom>
          <a:solidFill>
            <a:srgbClr val="172C3A"/>
          </a:solidFill>
          <a:ln w="12700">
            <a:solidFill>
              <a:srgbClr val="172C3A"/>
            </a:solidFill>
            <a:prstDash val="solid"/>
          </a:ln>
        </p:spPr>
        <p:txBody>
          <a:bodyPr/>
          <a:lstStyle/>
          <a:p>
            <a:endParaRPr lang="en-US" sz="3600" noProof="0" dirty="0"/>
          </a:p>
        </p:txBody>
      </p:sp>
      <p:sp>
        <p:nvSpPr>
          <p:cNvPr id="9" name="Text 7"/>
          <p:cNvSpPr/>
          <p:nvPr/>
        </p:nvSpPr>
        <p:spPr>
          <a:xfrm>
            <a:off x="4900865" y="4517289"/>
            <a:ext cx="2285851" cy="131665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ctr"/>
            <a:r>
              <a:rPr lang="en-US" sz="2800" b="1" noProof="0" dirty="0">
                <a:solidFill>
                  <a:srgbClr val="172C3A"/>
                </a:solidFill>
              </a:rPr>
              <a:t>RNN /</a:t>
            </a:r>
            <a:endParaRPr lang="en-US" sz="2800" noProof="0" dirty="0"/>
          </a:p>
          <a:p>
            <a:pPr algn="ctr"/>
            <a:r>
              <a:rPr lang="en-US" sz="2800" b="1" noProof="0" dirty="0">
                <a:solidFill>
                  <a:srgbClr val="172C3A"/>
                </a:solidFill>
              </a:rPr>
              <a:t>LSTM</a:t>
            </a:r>
            <a:endParaRPr lang="en-US" sz="2800" noProof="0" dirty="0"/>
          </a:p>
        </p:txBody>
      </p:sp>
      <p:sp>
        <p:nvSpPr>
          <p:cNvPr id="10" name="Text 8"/>
          <p:cNvSpPr/>
          <p:nvPr/>
        </p:nvSpPr>
        <p:spPr>
          <a:xfrm>
            <a:off x="5211740" y="7260310"/>
            <a:ext cx="1645813" cy="5120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2200" noProof="0" dirty="0">
                <a:solidFill>
                  <a:srgbClr val="607280"/>
                </a:solidFill>
              </a:rPr>
              <a:t>2014</a:t>
            </a:r>
            <a:endParaRPr lang="en-US" sz="2200" noProof="0" dirty="0"/>
          </a:p>
        </p:txBody>
      </p:sp>
      <p:sp>
        <p:nvSpPr>
          <p:cNvPr id="11" name="Shape 9"/>
          <p:cNvSpPr/>
          <p:nvPr/>
        </p:nvSpPr>
        <p:spPr>
          <a:xfrm>
            <a:off x="9637148" y="6656845"/>
            <a:ext cx="292589" cy="292589"/>
          </a:xfrm>
          <a:prstGeom prst="ellipse">
            <a:avLst/>
          </a:prstGeom>
          <a:solidFill>
            <a:srgbClr val="172C3A"/>
          </a:solidFill>
          <a:ln w="12700">
            <a:solidFill>
              <a:srgbClr val="172C3A"/>
            </a:solidFill>
            <a:prstDash val="solid"/>
          </a:ln>
        </p:spPr>
        <p:txBody>
          <a:bodyPr/>
          <a:lstStyle/>
          <a:p>
            <a:endParaRPr lang="en-US" sz="3600" noProof="0" dirty="0"/>
          </a:p>
        </p:txBody>
      </p:sp>
      <p:sp>
        <p:nvSpPr>
          <p:cNvPr id="12" name="Text 10"/>
          <p:cNvSpPr/>
          <p:nvPr/>
        </p:nvSpPr>
        <p:spPr>
          <a:xfrm>
            <a:off x="8649661" y="4517289"/>
            <a:ext cx="2285851" cy="1316650"/>
          </a:xfrm>
          <a:prstGeom prst="rect">
            <a:avLst/>
          </a:prstGeom>
          <a:solidFill>
            <a:srgbClr val="FFF2CF"/>
          </a:solidFill>
          <a:ln>
            <a:solidFill>
              <a:srgbClr val="FFF2CF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ctr"/>
            <a:r>
              <a:rPr lang="en-US" sz="2800" b="1" noProof="0" dirty="0">
                <a:solidFill>
                  <a:srgbClr val="172C3A"/>
                </a:solidFill>
              </a:rPr>
              <a:t>Attention</a:t>
            </a:r>
            <a:endParaRPr lang="en-US" sz="2800" noProof="0" dirty="0"/>
          </a:p>
        </p:txBody>
      </p:sp>
      <p:sp>
        <p:nvSpPr>
          <p:cNvPr id="13" name="Text 11"/>
          <p:cNvSpPr/>
          <p:nvPr/>
        </p:nvSpPr>
        <p:spPr>
          <a:xfrm>
            <a:off x="8960536" y="7260310"/>
            <a:ext cx="1645813" cy="5120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2200" noProof="0" dirty="0">
                <a:solidFill>
                  <a:srgbClr val="607280"/>
                </a:solidFill>
              </a:rPr>
              <a:t>2015</a:t>
            </a:r>
            <a:endParaRPr lang="en-US" sz="2200" noProof="0" dirty="0"/>
          </a:p>
        </p:txBody>
      </p:sp>
      <p:sp>
        <p:nvSpPr>
          <p:cNvPr id="14" name="Shape 12"/>
          <p:cNvSpPr/>
          <p:nvPr/>
        </p:nvSpPr>
        <p:spPr>
          <a:xfrm>
            <a:off x="13294510" y="6656845"/>
            <a:ext cx="292589" cy="292589"/>
          </a:xfrm>
          <a:prstGeom prst="ellipse">
            <a:avLst/>
          </a:prstGeom>
          <a:solidFill>
            <a:srgbClr val="172C3A"/>
          </a:solidFill>
          <a:ln w="12700">
            <a:solidFill>
              <a:srgbClr val="172C3A"/>
            </a:solidFill>
            <a:prstDash val="solid"/>
          </a:ln>
        </p:spPr>
        <p:txBody>
          <a:bodyPr/>
          <a:lstStyle/>
          <a:p>
            <a:endParaRPr lang="en-US" sz="3600" noProof="0" dirty="0"/>
          </a:p>
        </p:txBody>
      </p:sp>
      <p:sp>
        <p:nvSpPr>
          <p:cNvPr id="15" name="Text 13"/>
          <p:cNvSpPr/>
          <p:nvPr/>
        </p:nvSpPr>
        <p:spPr>
          <a:xfrm>
            <a:off x="12307023" y="4517289"/>
            <a:ext cx="2285851" cy="1316650"/>
          </a:xfrm>
          <a:prstGeom prst="rect">
            <a:avLst/>
          </a:prstGeom>
          <a:solidFill>
            <a:srgbClr val="DDF5F3"/>
          </a:solidFill>
          <a:ln>
            <a:solidFill>
              <a:srgbClr val="DDF5F3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ctr"/>
            <a:r>
              <a:rPr lang="en-US" sz="2800" b="1" noProof="0" dirty="0">
                <a:solidFill>
                  <a:srgbClr val="172C3A"/>
                </a:solidFill>
              </a:rPr>
              <a:t>Transformers</a:t>
            </a:r>
            <a:endParaRPr lang="en-US" sz="2800" noProof="0" dirty="0"/>
          </a:p>
        </p:txBody>
      </p:sp>
      <p:sp>
        <p:nvSpPr>
          <p:cNvPr id="16" name="Text 14"/>
          <p:cNvSpPr/>
          <p:nvPr/>
        </p:nvSpPr>
        <p:spPr>
          <a:xfrm>
            <a:off x="12617898" y="7260310"/>
            <a:ext cx="1645813" cy="5120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2200" noProof="0" dirty="0">
                <a:solidFill>
                  <a:srgbClr val="607280"/>
                </a:solidFill>
              </a:rPr>
              <a:t>2017</a:t>
            </a:r>
            <a:endParaRPr lang="en-US" sz="2200" noProof="0" dirty="0"/>
          </a:p>
        </p:txBody>
      </p:sp>
      <p:sp>
        <p:nvSpPr>
          <p:cNvPr id="17" name="Shape 15"/>
          <p:cNvSpPr/>
          <p:nvPr/>
        </p:nvSpPr>
        <p:spPr>
          <a:xfrm>
            <a:off x="17134740" y="6656845"/>
            <a:ext cx="292589" cy="292589"/>
          </a:xfrm>
          <a:prstGeom prst="ellipse">
            <a:avLst/>
          </a:prstGeom>
          <a:solidFill>
            <a:srgbClr val="172C3A"/>
          </a:solidFill>
          <a:ln w="12700">
            <a:solidFill>
              <a:srgbClr val="172C3A"/>
            </a:solidFill>
            <a:prstDash val="solid"/>
          </a:ln>
        </p:spPr>
        <p:txBody>
          <a:bodyPr/>
          <a:lstStyle/>
          <a:p>
            <a:endParaRPr lang="en-US" sz="3600" noProof="0" dirty="0"/>
          </a:p>
        </p:txBody>
      </p:sp>
      <p:sp>
        <p:nvSpPr>
          <p:cNvPr id="18" name="Text 16"/>
          <p:cNvSpPr/>
          <p:nvPr/>
        </p:nvSpPr>
        <p:spPr>
          <a:xfrm>
            <a:off x="16147253" y="4517289"/>
            <a:ext cx="2285851" cy="1316650"/>
          </a:xfrm>
          <a:prstGeom prst="rect">
            <a:avLst/>
          </a:prstGeom>
          <a:solidFill>
            <a:srgbClr val="FFE2DF"/>
          </a:solidFill>
          <a:ln>
            <a:solidFill>
              <a:srgbClr val="FFE2DF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ctr"/>
            <a:r>
              <a:rPr lang="en-US" sz="2800" b="1" noProof="0" dirty="0">
                <a:solidFill>
                  <a:srgbClr val="172C3A"/>
                </a:solidFill>
              </a:rPr>
              <a:t>BERT</a:t>
            </a:r>
            <a:endParaRPr lang="en-US" sz="2800" noProof="0" dirty="0"/>
          </a:p>
        </p:txBody>
      </p:sp>
      <p:sp>
        <p:nvSpPr>
          <p:cNvPr id="19" name="Text 17"/>
          <p:cNvSpPr/>
          <p:nvPr/>
        </p:nvSpPr>
        <p:spPr>
          <a:xfrm>
            <a:off x="16458128" y="7260310"/>
            <a:ext cx="1645813" cy="5120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2200" noProof="0" dirty="0">
                <a:solidFill>
                  <a:srgbClr val="607280"/>
                </a:solidFill>
              </a:rPr>
              <a:t>2018</a:t>
            </a:r>
            <a:endParaRPr lang="en-US" sz="2200" noProof="0" dirty="0"/>
          </a:p>
        </p:txBody>
      </p:sp>
      <p:sp>
        <p:nvSpPr>
          <p:cNvPr id="20" name="Shape 18"/>
          <p:cNvSpPr/>
          <p:nvPr/>
        </p:nvSpPr>
        <p:spPr>
          <a:xfrm>
            <a:off x="20974970" y="6656845"/>
            <a:ext cx="292589" cy="292589"/>
          </a:xfrm>
          <a:prstGeom prst="ellipse">
            <a:avLst/>
          </a:prstGeom>
          <a:solidFill>
            <a:srgbClr val="172C3A"/>
          </a:solidFill>
          <a:ln w="12700">
            <a:solidFill>
              <a:srgbClr val="172C3A"/>
            </a:solidFill>
            <a:prstDash val="solid"/>
          </a:ln>
        </p:spPr>
        <p:txBody>
          <a:bodyPr/>
          <a:lstStyle/>
          <a:p>
            <a:endParaRPr lang="en-US" sz="3600" noProof="0" dirty="0"/>
          </a:p>
        </p:txBody>
      </p:sp>
      <p:sp>
        <p:nvSpPr>
          <p:cNvPr id="21" name="Text 19"/>
          <p:cNvSpPr/>
          <p:nvPr/>
        </p:nvSpPr>
        <p:spPr>
          <a:xfrm>
            <a:off x="19987482" y="4517289"/>
            <a:ext cx="2285851" cy="1316650"/>
          </a:xfrm>
          <a:prstGeom prst="rect">
            <a:avLst/>
          </a:prstGeom>
          <a:solidFill>
            <a:srgbClr val="E8EBFF"/>
          </a:solidFill>
          <a:ln>
            <a:solidFill>
              <a:srgbClr val="E8EBFF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ctr"/>
            <a:r>
              <a:rPr lang="en-US" sz="2800" b="1" noProof="0" dirty="0">
                <a:solidFill>
                  <a:srgbClr val="172C3A"/>
                </a:solidFill>
              </a:rPr>
              <a:t>LLMs</a:t>
            </a:r>
            <a:endParaRPr lang="en-US" sz="2800" noProof="0" dirty="0"/>
          </a:p>
        </p:txBody>
      </p:sp>
      <p:sp>
        <p:nvSpPr>
          <p:cNvPr id="22" name="Text 20"/>
          <p:cNvSpPr/>
          <p:nvPr/>
        </p:nvSpPr>
        <p:spPr>
          <a:xfrm>
            <a:off x="20298358" y="7260310"/>
            <a:ext cx="1645813" cy="5120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2200" noProof="0" dirty="0">
                <a:solidFill>
                  <a:srgbClr val="607280"/>
                </a:solidFill>
              </a:rPr>
              <a:t>today</a:t>
            </a:r>
            <a:endParaRPr lang="en-US" sz="2200" noProof="0" dirty="0"/>
          </a:p>
        </p:txBody>
      </p:sp>
      <p:grpSp>
        <p:nvGrpSpPr>
          <p:cNvPr id="32" name="Csoportba foglalás 31">
            <a:extLst>
              <a:ext uri="{FF2B5EF4-FFF2-40B4-BE49-F238E27FC236}">
                <a16:creationId xmlns:a16="http://schemas.microsoft.com/office/drawing/2014/main" id="{71273EEB-1FCD-9A9A-39C9-4FBB96779103}"/>
              </a:ext>
            </a:extLst>
          </p:cNvPr>
          <p:cNvGrpSpPr/>
          <p:nvPr/>
        </p:nvGrpSpPr>
        <p:grpSpPr>
          <a:xfrm>
            <a:off x="12345975" y="9527874"/>
            <a:ext cx="6583251" cy="1243504"/>
            <a:chOff x="13257937" y="9418153"/>
            <a:chExt cx="6583251" cy="1243504"/>
          </a:xfrm>
        </p:grpSpPr>
        <p:sp>
          <p:nvSpPr>
            <p:cNvPr id="25" name="Text 23"/>
            <p:cNvSpPr/>
            <p:nvPr/>
          </p:nvSpPr>
          <p:spPr>
            <a:xfrm>
              <a:off x="14080843" y="9418153"/>
              <a:ext cx="4937439" cy="5120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800" b="1" noProof="0" dirty="0">
                  <a:solidFill>
                    <a:srgbClr val="087D7D"/>
                  </a:solidFill>
                </a:rPr>
                <a:t>With attention</a:t>
              </a:r>
              <a:endParaRPr lang="en-US" sz="2800" noProof="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13257937" y="10149626"/>
              <a:ext cx="6583251" cy="5120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600" noProof="0" dirty="0">
                  <a:solidFill>
                    <a:srgbClr val="087D7D"/>
                  </a:solidFill>
                </a:rPr>
                <a:t>words become context-dependent</a:t>
              </a:r>
              <a:endParaRPr lang="en-US" sz="2600" noProof="0" dirty="0"/>
            </a:p>
          </p:txBody>
        </p:sp>
      </p:grpSp>
      <p:sp>
        <p:nvSpPr>
          <p:cNvPr id="27" name="Text 25"/>
          <p:cNvSpPr/>
          <p:nvPr/>
        </p:nvSpPr>
        <p:spPr>
          <a:xfrm>
            <a:off x="23132814" y="12892647"/>
            <a:ext cx="640038" cy="329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700" noProof="0" dirty="0">
                <a:solidFill>
                  <a:srgbClr val="607280"/>
                </a:solidFill>
              </a:rPr>
              <a:t>5</a:t>
            </a:r>
            <a:endParaRPr lang="en-US" sz="1700" noProof="0" dirty="0"/>
          </a:p>
        </p:txBody>
      </p:sp>
      <p:sp>
        <p:nvSpPr>
          <p:cNvPr id="28" name="TextBox 2">
            <a:extLst>
              <a:ext uri="{FF2B5EF4-FFF2-40B4-BE49-F238E27FC236}">
                <a16:creationId xmlns:a16="http://schemas.microsoft.com/office/drawing/2014/main" id="{383F0DF0-EACC-C82A-08F0-0E7A584752B2}"/>
              </a:ext>
            </a:extLst>
          </p:cNvPr>
          <p:cNvSpPr txBox="1"/>
          <p:nvPr/>
        </p:nvSpPr>
        <p:spPr>
          <a:xfrm>
            <a:off x="1060634" y="1737695"/>
            <a:ext cx="9231173" cy="498596"/>
          </a:xfrm>
          <a:prstGeom prst="rect">
            <a:avLst/>
          </a:prstGeom>
          <a:noFill/>
        </p:spPr>
        <p:txBody>
          <a:bodyPr wrap="none" lIns="54860" tIns="18287" rIns="54860" bIns="18287">
            <a:spAutoFit/>
          </a:bodyPr>
          <a:lstStyle/>
          <a:p>
            <a:pPr>
              <a:defRPr sz="1500" b="0">
                <a:solidFill>
                  <a:srgbClr val="5B697D"/>
                </a:solidFill>
                <a:latin typeface="Aptos"/>
              </a:defRPr>
            </a:pPr>
            <a:r>
              <a:rPr lang="en-US" sz="3000" noProof="0" dirty="0"/>
              <a:t>Attention: models learned to interpret words in context.</a:t>
            </a:r>
          </a:p>
        </p:txBody>
      </p:sp>
      <p:sp>
        <p:nvSpPr>
          <p:cNvPr id="29" name="Élőláb helye 3">
            <a:extLst>
              <a:ext uri="{FF2B5EF4-FFF2-40B4-BE49-F238E27FC236}">
                <a16:creationId xmlns:a16="http://schemas.microsoft.com/office/drawing/2014/main" id="{3F1FD0E8-94A6-7B53-BA9A-61C2F3E0077E}"/>
              </a:ext>
            </a:extLst>
          </p:cNvPr>
          <p:cNvSpPr txBox="1">
            <a:spLocks/>
          </p:cNvSpPr>
          <p:nvPr/>
        </p:nvSpPr>
        <p:spPr>
          <a:xfrm>
            <a:off x="1153220" y="12574479"/>
            <a:ext cx="9957167" cy="730250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noProof="0" dirty="0">
                <a:solidFill>
                  <a:schemeClr val="bg1"/>
                </a:solidFill>
              </a:rPr>
              <a:t>Understanding BERT for Medical Text Classification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ounded Rectangle 47">
            <a:extLst>
              <a:ext uri="{FF2B5EF4-FFF2-40B4-BE49-F238E27FC236}">
                <a16:creationId xmlns:a16="http://schemas.microsoft.com/office/drawing/2014/main" id="{AE5EFC0F-9711-F172-4ED1-37D11D7E4A39}"/>
              </a:ext>
            </a:extLst>
          </p:cNvPr>
          <p:cNvSpPr/>
          <p:nvPr/>
        </p:nvSpPr>
        <p:spPr>
          <a:xfrm>
            <a:off x="14104924" y="7660645"/>
            <a:ext cx="9135634" cy="4226554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DB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ext 0"/>
          <p:cNvSpPr/>
          <p:nvPr/>
        </p:nvSpPr>
        <p:spPr>
          <a:xfrm>
            <a:off x="1133782" y="823353"/>
            <a:ext cx="22127039" cy="822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200" b="1" noProof="0" dirty="0">
                <a:solidFill>
                  <a:srgbClr val="172C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words to context-aware meaning</a:t>
            </a:r>
            <a:endParaRPr lang="en-US" sz="6200" noProof="0" dirty="0"/>
          </a:p>
        </p:txBody>
      </p:sp>
      <p:sp>
        <p:nvSpPr>
          <p:cNvPr id="4" name="Text 2"/>
          <p:cNvSpPr/>
          <p:nvPr/>
        </p:nvSpPr>
        <p:spPr>
          <a:xfrm>
            <a:off x="1981299" y="4114976"/>
            <a:ext cx="2889316" cy="1462945"/>
          </a:xfrm>
          <a:prstGeom prst="rect">
            <a:avLst/>
          </a:prstGeom>
          <a:solidFill>
            <a:schemeClr val="bg2"/>
          </a:solidFill>
          <a:ln>
            <a:solidFill>
              <a:srgbClr val="FFFFFF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ctr"/>
            <a:r>
              <a:rPr lang="en-US" sz="2800" b="1" noProof="0" dirty="0">
                <a:solidFill>
                  <a:srgbClr val="172C3A"/>
                </a:solidFill>
              </a:rPr>
              <a:t>Sentence</a:t>
            </a:r>
            <a:endParaRPr lang="en-US" sz="2800" noProof="0" dirty="0"/>
          </a:p>
        </p:txBody>
      </p:sp>
      <p:sp>
        <p:nvSpPr>
          <p:cNvPr id="5" name="Shape 3"/>
          <p:cNvSpPr/>
          <p:nvPr/>
        </p:nvSpPr>
        <p:spPr>
          <a:xfrm>
            <a:off x="5376274" y="4846451"/>
            <a:ext cx="621752" cy="0"/>
          </a:xfrm>
          <a:prstGeom prst="line">
            <a:avLst/>
          </a:prstGeom>
          <a:noFill/>
          <a:ln w="19050">
            <a:solidFill>
              <a:srgbClr val="0EA5A5"/>
            </a:solidFill>
            <a:prstDash val="solid"/>
            <a:tailEnd type="triangle"/>
          </a:ln>
        </p:spPr>
        <p:txBody>
          <a:bodyPr/>
          <a:lstStyle/>
          <a:p>
            <a:endParaRPr lang="en-US" sz="3600" noProof="0" dirty="0"/>
          </a:p>
        </p:txBody>
      </p:sp>
      <p:sp>
        <p:nvSpPr>
          <p:cNvPr id="6" name="Text 4"/>
          <p:cNvSpPr/>
          <p:nvPr/>
        </p:nvSpPr>
        <p:spPr>
          <a:xfrm>
            <a:off x="6503685" y="4114978"/>
            <a:ext cx="2889316" cy="1462945"/>
          </a:xfrm>
          <a:prstGeom prst="rect">
            <a:avLst/>
          </a:prstGeom>
          <a:solidFill>
            <a:srgbClr val="DDF5F3"/>
          </a:solidFill>
          <a:ln>
            <a:solidFill>
              <a:srgbClr val="DDF5F3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ctr"/>
            <a:r>
              <a:rPr lang="en-US" sz="2800" b="1" noProof="0" dirty="0">
                <a:solidFill>
                  <a:srgbClr val="172C3A"/>
                </a:solidFill>
              </a:rPr>
              <a:t>Tokens</a:t>
            </a:r>
            <a:endParaRPr lang="en-US" sz="2800" noProof="0" dirty="0"/>
          </a:p>
        </p:txBody>
      </p:sp>
      <p:sp>
        <p:nvSpPr>
          <p:cNvPr id="7" name="Shape 5"/>
          <p:cNvSpPr/>
          <p:nvPr/>
        </p:nvSpPr>
        <p:spPr>
          <a:xfrm>
            <a:off x="9898660" y="4846451"/>
            <a:ext cx="621752" cy="0"/>
          </a:xfrm>
          <a:prstGeom prst="line">
            <a:avLst/>
          </a:prstGeom>
          <a:noFill/>
          <a:ln w="19050">
            <a:solidFill>
              <a:srgbClr val="0EA5A5"/>
            </a:solidFill>
            <a:prstDash val="solid"/>
            <a:tailEnd type="triangle"/>
          </a:ln>
        </p:spPr>
        <p:txBody>
          <a:bodyPr/>
          <a:lstStyle/>
          <a:p>
            <a:endParaRPr lang="en-US" sz="3600" noProof="0" dirty="0"/>
          </a:p>
        </p:txBody>
      </p:sp>
      <p:sp>
        <p:nvSpPr>
          <p:cNvPr id="10" name="Text 8"/>
          <p:cNvSpPr/>
          <p:nvPr/>
        </p:nvSpPr>
        <p:spPr>
          <a:xfrm>
            <a:off x="11026071" y="4114978"/>
            <a:ext cx="2889316" cy="1462945"/>
          </a:xfrm>
          <a:prstGeom prst="rect">
            <a:avLst/>
          </a:prstGeom>
          <a:solidFill>
            <a:srgbClr val="FFF2CF"/>
          </a:solidFill>
          <a:ln>
            <a:solidFill>
              <a:srgbClr val="FFF2CF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ctr"/>
            <a:r>
              <a:rPr lang="en-US" sz="2800" b="1" noProof="0" dirty="0">
                <a:solidFill>
                  <a:srgbClr val="172C3A"/>
                </a:solidFill>
              </a:rPr>
              <a:t>Embeddings</a:t>
            </a:r>
            <a:endParaRPr lang="en-US" sz="2800" noProof="0" dirty="0"/>
          </a:p>
        </p:txBody>
      </p:sp>
      <p:sp>
        <p:nvSpPr>
          <p:cNvPr id="11" name="Shape 9"/>
          <p:cNvSpPr/>
          <p:nvPr/>
        </p:nvSpPr>
        <p:spPr>
          <a:xfrm>
            <a:off x="14421046" y="4846451"/>
            <a:ext cx="621752" cy="0"/>
          </a:xfrm>
          <a:prstGeom prst="line">
            <a:avLst/>
          </a:prstGeom>
          <a:noFill/>
          <a:ln w="19050">
            <a:solidFill>
              <a:srgbClr val="0EA5A5"/>
            </a:solidFill>
            <a:prstDash val="solid"/>
            <a:tailEnd type="triangle"/>
          </a:ln>
        </p:spPr>
        <p:txBody>
          <a:bodyPr/>
          <a:lstStyle/>
          <a:p>
            <a:endParaRPr lang="en-US" sz="3600" noProof="0" dirty="0"/>
          </a:p>
        </p:txBody>
      </p:sp>
      <p:sp>
        <p:nvSpPr>
          <p:cNvPr id="12" name="Text 10"/>
          <p:cNvSpPr/>
          <p:nvPr/>
        </p:nvSpPr>
        <p:spPr>
          <a:xfrm>
            <a:off x="15548457" y="4114978"/>
            <a:ext cx="2889316" cy="1462945"/>
          </a:xfrm>
          <a:prstGeom prst="rect">
            <a:avLst/>
          </a:prstGeom>
          <a:solidFill>
            <a:srgbClr val="E8EBFF"/>
          </a:solidFill>
          <a:ln>
            <a:solidFill>
              <a:srgbClr val="E8EBFF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ctr"/>
            <a:r>
              <a:rPr lang="en-US" sz="2800" b="1" noProof="0" dirty="0">
                <a:solidFill>
                  <a:srgbClr val="172C3A"/>
                </a:solidFill>
              </a:rPr>
              <a:t>Context-aware</a:t>
            </a:r>
            <a:endParaRPr lang="en-US" sz="2800" noProof="0" dirty="0"/>
          </a:p>
          <a:p>
            <a:pPr algn="ctr"/>
            <a:r>
              <a:rPr lang="en-US" sz="2800" b="1" noProof="0" dirty="0">
                <a:solidFill>
                  <a:srgbClr val="172C3A"/>
                </a:solidFill>
              </a:rPr>
              <a:t>embeddings</a:t>
            </a:r>
            <a:endParaRPr lang="en-US" sz="2800" noProof="0" dirty="0"/>
          </a:p>
        </p:txBody>
      </p:sp>
      <p:sp>
        <p:nvSpPr>
          <p:cNvPr id="13" name="Shape 11"/>
          <p:cNvSpPr/>
          <p:nvPr/>
        </p:nvSpPr>
        <p:spPr>
          <a:xfrm>
            <a:off x="18943432" y="4846451"/>
            <a:ext cx="621752" cy="0"/>
          </a:xfrm>
          <a:prstGeom prst="line">
            <a:avLst/>
          </a:prstGeom>
          <a:noFill/>
          <a:ln w="19050">
            <a:solidFill>
              <a:srgbClr val="0EA5A5"/>
            </a:solidFill>
            <a:prstDash val="solid"/>
            <a:tailEnd type="triangle"/>
          </a:ln>
        </p:spPr>
        <p:txBody>
          <a:bodyPr/>
          <a:lstStyle/>
          <a:p>
            <a:endParaRPr lang="en-US" sz="3600" noProof="0" dirty="0"/>
          </a:p>
        </p:txBody>
      </p:sp>
      <p:sp>
        <p:nvSpPr>
          <p:cNvPr id="14" name="Text 12"/>
          <p:cNvSpPr/>
          <p:nvPr/>
        </p:nvSpPr>
        <p:spPr>
          <a:xfrm>
            <a:off x="20070843" y="4114977"/>
            <a:ext cx="2889316" cy="1462945"/>
          </a:xfrm>
          <a:prstGeom prst="rect">
            <a:avLst/>
          </a:prstGeom>
          <a:solidFill>
            <a:srgbClr val="FFE2DF"/>
          </a:solidFill>
          <a:ln>
            <a:solidFill>
              <a:srgbClr val="FFE2DF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ctr"/>
            <a:r>
              <a:rPr lang="en-US" sz="2800" b="1" noProof="0" dirty="0">
                <a:solidFill>
                  <a:srgbClr val="172C3A"/>
                </a:solidFill>
              </a:rPr>
              <a:t>Prediction</a:t>
            </a:r>
            <a:endParaRPr lang="en-US" sz="2800" noProof="0" dirty="0"/>
          </a:p>
        </p:txBody>
      </p:sp>
      <p:sp>
        <p:nvSpPr>
          <p:cNvPr id="15" name="Text 13"/>
          <p:cNvSpPr/>
          <p:nvPr/>
        </p:nvSpPr>
        <p:spPr>
          <a:xfrm>
            <a:off x="2102983" y="7534612"/>
            <a:ext cx="3840230" cy="548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400" b="1" noProof="0" dirty="0">
                <a:solidFill>
                  <a:srgbClr val="172C3A"/>
                </a:solidFill>
              </a:rPr>
              <a:t>Before context</a:t>
            </a:r>
            <a:endParaRPr lang="en-US" sz="3400" noProof="0" dirty="0"/>
          </a:p>
        </p:txBody>
      </p:sp>
      <p:sp>
        <p:nvSpPr>
          <p:cNvPr id="16" name="Text 14"/>
          <p:cNvSpPr/>
          <p:nvPr/>
        </p:nvSpPr>
        <p:spPr>
          <a:xfrm>
            <a:off x="1974975" y="8412379"/>
            <a:ext cx="4114532" cy="1737247"/>
          </a:xfrm>
          <a:prstGeom prst="rect">
            <a:avLst/>
          </a:prstGeom>
          <a:solidFill>
            <a:srgbClr val="FFF2CF"/>
          </a:solidFill>
          <a:ln>
            <a:solidFill>
              <a:srgbClr val="FFF2CF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ctr"/>
            <a:r>
              <a:rPr lang="en-US" sz="3200" b="1" noProof="0" dirty="0">
                <a:solidFill>
                  <a:srgbClr val="172C3A"/>
                </a:solidFill>
              </a:rPr>
              <a:t>headache</a:t>
            </a:r>
            <a:endParaRPr lang="en-US" sz="3200" noProof="0" dirty="0"/>
          </a:p>
          <a:p>
            <a:pPr algn="ctr"/>
            <a:r>
              <a:rPr lang="en-US" sz="3200" b="1" noProof="0" dirty="0">
                <a:solidFill>
                  <a:srgbClr val="172C3A"/>
                </a:solidFill>
              </a:rPr>
              <a:t>basic vector</a:t>
            </a:r>
            <a:endParaRPr lang="en-US" sz="3200" noProof="0" dirty="0"/>
          </a:p>
        </p:txBody>
      </p:sp>
      <p:sp>
        <p:nvSpPr>
          <p:cNvPr id="17" name="Shape 15"/>
          <p:cNvSpPr/>
          <p:nvPr/>
        </p:nvSpPr>
        <p:spPr>
          <a:xfrm>
            <a:off x="6510104" y="9290146"/>
            <a:ext cx="1755534" cy="0"/>
          </a:xfrm>
          <a:prstGeom prst="line">
            <a:avLst/>
          </a:prstGeom>
          <a:noFill/>
          <a:ln w="27940">
            <a:solidFill>
              <a:srgbClr val="0EA5A5"/>
            </a:solidFill>
            <a:prstDash val="solid"/>
            <a:tailEnd type="triangle"/>
          </a:ln>
        </p:spPr>
        <p:txBody>
          <a:bodyPr/>
          <a:lstStyle/>
          <a:p>
            <a:endParaRPr lang="en-US" sz="3600" noProof="0" dirty="0"/>
          </a:p>
        </p:txBody>
      </p:sp>
      <p:sp>
        <p:nvSpPr>
          <p:cNvPr id="18" name="Text 16"/>
          <p:cNvSpPr/>
          <p:nvPr/>
        </p:nvSpPr>
        <p:spPr>
          <a:xfrm>
            <a:off x="8869102" y="7534612"/>
            <a:ext cx="3840230" cy="548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400" b="1" noProof="0" dirty="0">
                <a:solidFill>
                  <a:srgbClr val="172C3A"/>
                </a:solidFill>
              </a:rPr>
              <a:t>After context</a:t>
            </a:r>
            <a:endParaRPr lang="en-US" sz="3400" noProof="0" dirty="0"/>
          </a:p>
        </p:txBody>
      </p:sp>
      <p:sp>
        <p:nvSpPr>
          <p:cNvPr id="19" name="Text 17"/>
          <p:cNvSpPr/>
          <p:nvPr/>
        </p:nvSpPr>
        <p:spPr>
          <a:xfrm>
            <a:off x="8686234" y="8412379"/>
            <a:ext cx="4297400" cy="1737247"/>
          </a:xfrm>
          <a:prstGeom prst="rect">
            <a:avLst/>
          </a:prstGeom>
          <a:solidFill>
            <a:srgbClr val="E8EBFF"/>
          </a:solidFill>
          <a:ln>
            <a:solidFill>
              <a:srgbClr val="E8EBFF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ctr"/>
            <a:r>
              <a:rPr lang="en-US" sz="3200" b="1" noProof="0" dirty="0">
                <a:solidFill>
                  <a:srgbClr val="172C3A"/>
                </a:solidFill>
              </a:rPr>
              <a:t>headache</a:t>
            </a:r>
            <a:endParaRPr lang="en-US" sz="3200" noProof="0" dirty="0"/>
          </a:p>
          <a:p>
            <a:pPr algn="ctr"/>
            <a:r>
              <a:rPr lang="en-US" sz="3200" b="1" noProof="0" dirty="0">
                <a:solidFill>
                  <a:srgbClr val="172C3A"/>
                </a:solidFill>
              </a:rPr>
              <a:t>in this sentence</a:t>
            </a:r>
            <a:endParaRPr lang="en-US" sz="3200" noProof="0" dirty="0"/>
          </a:p>
        </p:txBody>
      </p:sp>
      <p:sp>
        <p:nvSpPr>
          <p:cNvPr id="20" name="Text 18"/>
          <p:cNvSpPr/>
          <p:nvPr/>
        </p:nvSpPr>
        <p:spPr>
          <a:xfrm>
            <a:off x="14950536" y="7900348"/>
            <a:ext cx="2157844" cy="987488"/>
          </a:xfrm>
          <a:prstGeom prst="rect">
            <a:avLst/>
          </a:prstGeom>
          <a:solidFill>
            <a:srgbClr val="DDF5F3"/>
          </a:solidFill>
          <a:ln>
            <a:solidFill>
              <a:srgbClr val="DDF5F3">
                <a:alpha val="0"/>
              </a:srgbClr>
            </a:solidFill>
          </a:ln>
        </p:spPr>
        <p:txBody>
          <a:bodyPr wrap="square" lIns="1270" tIns="1270" rIns="1270" bIns="1270" rtlCol="0" anchor="ctr"/>
          <a:lstStyle/>
          <a:p>
            <a:pPr algn="ctr"/>
            <a:r>
              <a:rPr lang="en-US" sz="2800" b="1" noProof="0" dirty="0">
                <a:solidFill>
                  <a:srgbClr val="172C3A"/>
                </a:solidFill>
              </a:rPr>
              <a:t>patient</a:t>
            </a:r>
            <a:endParaRPr lang="en-US" sz="2800" noProof="0" dirty="0"/>
          </a:p>
        </p:txBody>
      </p:sp>
      <p:sp>
        <p:nvSpPr>
          <p:cNvPr id="21" name="Text 19"/>
          <p:cNvSpPr/>
          <p:nvPr/>
        </p:nvSpPr>
        <p:spPr>
          <a:xfrm>
            <a:off x="16102605" y="9198711"/>
            <a:ext cx="2157844" cy="987488"/>
          </a:xfrm>
          <a:prstGeom prst="rect">
            <a:avLst/>
          </a:prstGeom>
          <a:solidFill>
            <a:srgbClr val="DDF5F3"/>
          </a:solidFill>
          <a:ln>
            <a:solidFill>
              <a:srgbClr val="DDF5F3">
                <a:alpha val="0"/>
              </a:srgbClr>
            </a:solidFill>
          </a:ln>
        </p:spPr>
        <p:txBody>
          <a:bodyPr wrap="square" lIns="1270" tIns="1270" rIns="1270" bIns="1270" rtlCol="0" anchor="ctr"/>
          <a:lstStyle/>
          <a:p>
            <a:pPr algn="ctr"/>
            <a:r>
              <a:rPr lang="en-US" sz="2800" b="1" noProof="0" dirty="0">
                <a:solidFill>
                  <a:srgbClr val="172C3A"/>
                </a:solidFill>
              </a:rPr>
              <a:t>suffers</a:t>
            </a:r>
            <a:endParaRPr lang="en-US" sz="2800" noProof="0" dirty="0"/>
          </a:p>
        </p:txBody>
      </p:sp>
      <p:sp>
        <p:nvSpPr>
          <p:cNvPr id="22" name="Text 20"/>
          <p:cNvSpPr/>
          <p:nvPr/>
        </p:nvSpPr>
        <p:spPr>
          <a:xfrm>
            <a:off x="17510690" y="7863774"/>
            <a:ext cx="2157844" cy="987488"/>
          </a:xfrm>
          <a:prstGeom prst="rect">
            <a:avLst/>
          </a:prstGeom>
          <a:solidFill>
            <a:srgbClr val="DDF5F3"/>
          </a:solidFill>
          <a:ln>
            <a:solidFill>
              <a:srgbClr val="DDF5F3">
                <a:alpha val="0"/>
              </a:srgbClr>
            </a:solidFill>
          </a:ln>
        </p:spPr>
        <p:txBody>
          <a:bodyPr wrap="square" lIns="1270" tIns="1270" rIns="1270" bIns="1270" rtlCol="0" anchor="ctr"/>
          <a:lstStyle/>
          <a:p>
            <a:pPr algn="ctr"/>
            <a:r>
              <a:rPr lang="en-US" sz="2800" b="1" noProof="0" dirty="0">
                <a:solidFill>
                  <a:srgbClr val="172C3A"/>
                </a:solidFill>
              </a:rPr>
              <a:t>chronic</a:t>
            </a:r>
            <a:endParaRPr lang="en-US" sz="2800" noProof="0" dirty="0"/>
          </a:p>
        </p:txBody>
      </p:sp>
      <p:sp>
        <p:nvSpPr>
          <p:cNvPr id="23" name="Text 21"/>
          <p:cNvSpPr/>
          <p:nvPr/>
        </p:nvSpPr>
        <p:spPr>
          <a:xfrm>
            <a:off x="19119929" y="9180425"/>
            <a:ext cx="2651587" cy="987488"/>
          </a:xfrm>
          <a:prstGeom prst="rect">
            <a:avLst/>
          </a:prstGeom>
          <a:solidFill>
            <a:srgbClr val="FFE2DF"/>
          </a:solidFill>
          <a:ln>
            <a:solidFill>
              <a:srgbClr val="FFE2DF">
                <a:alpha val="0"/>
              </a:srgbClr>
            </a:solidFill>
          </a:ln>
        </p:spPr>
        <p:txBody>
          <a:bodyPr wrap="square" lIns="1270" tIns="1270" rIns="1270" bIns="1270" rtlCol="0" anchor="ctr"/>
          <a:lstStyle/>
          <a:p>
            <a:pPr algn="ctr"/>
            <a:r>
              <a:rPr lang="en-US" sz="2800" b="1" noProof="0" dirty="0">
                <a:solidFill>
                  <a:srgbClr val="172C3A"/>
                </a:solidFill>
              </a:rPr>
              <a:t>headaches</a:t>
            </a:r>
            <a:endParaRPr lang="en-US" sz="2800" noProof="0" dirty="0"/>
          </a:p>
        </p:txBody>
      </p:sp>
      <p:sp>
        <p:nvSpPr>
          <p:cNvPr id="24" name="Text 22"/>
          <p:cNvSpPr/>
          <p:nvPr/>
        </p:nvSpPr>
        <p:spPr>
          <a:xfrm>
            <a:off x="14273925" y="10881098"/>
            <a:ext cx="8686234" cy="548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400" b="1" noProof="0" dirty="0">
                <a:solidFill>
                  <a:srgbClr val="087D7D"/>
                </a:solidFill>
              </a:rPr>
              <a:t>Context updates the vector values.</a:t>
            </a:r>
            <a:endParaRPr lang="en-US" sz="3400" noProof="0" dirty="0"/>
          </a:p>
        </p:txBody>
      </p:sp>
      <p:sp>
        <p:nvSpPr>
          <p:cNvPr id="25" name="Text 23"/>
          <p:cNvSpPr/>
          <p:nvPr/>
        </p:nvSpPr>
        <p:spPr>
          <a:xfrm>
            <a:off x="23132814" y="12892647"/>
            <a:ext cx="640038" cy="329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700" noProof="0" dirty="0">
                <a:solidFill>
                  <a:srgbClr val="607280"/>
                </a:solidFill>
              </a:rPr>
              <a:t>6</a:t>
            </a:r>
            <a:endParaRPr lang="en-US" sz="1700" noProof="0" dirty="0"/>
          </a:p>
        </p:txBody>
      </p:sp>
      <p:sp>
        <p:nvSpPr>
          <p:cNvPr id="26" name="TextBox 2">
            <a:extLst>
              <a:ext uri="{FF2B5EF4-FFF2-40B4-BE49-F238E27FC236}">
                <a16:creationId xmlns:a16="http://schemas.microsoft.com/office/drawing/2014/main" id="{DD15BC21-23F0-9DEF-FC0C-0CA3DEF795A6}"/>
              </a:ext>
            </a:extLst>
          </p:cNvPr>
          <p:cNvSpPr txBox="1"/>
          <p:nvPr/>
        </p:nvSpPr>
        <p:spPr>
          <a:xfrm>
            <a:off x="1060634" y="1737695"/>
            <a:ext cx="14514863" cy="498596"/>
          </a:xfrm>
          <a:prstGeom prst="rect">
            <a:avLst/>
          </a:prstGeom>
          <a:noFill/>
        </p:spPr>
        <p:txBody>
          <a:bodyPr wrap="none" lIns="54860" tIns="18287" rIns="54860" bIns="18287">
            <a:spAutoFit/>
          </a:bodyPr>
          <a:lstStyle/>
          <a:p>
            <a:pPr>
              <a:defRPr sz="1500" b="0">
                <a:solidFill>
                  <a:srgbClr val="5B697D"/>
                </a:solidFill>
                <a:latin typeface="Aptos"/>
              </a:defRPr>
            </a:pPr>
            <a:r>
              <a:rPr lang="en-US" sz="3000" noProof="0" dirty="0"/>
              <a:t>The same word can be represented differently once the sentence context is considered.</a:t>
            </a:r>
          </a:p>
        </p:txBody>
      </p:sp>
      <p:sp>
        <p:nvSpPr>
          <p:cNvPr id="27" name="Élőláb helye 3">
            <a:extLst>
              <a:ext uri="{FF2B5EF4-FFF2-40B4-BE49-F238E27FC236}">
                <a16:creationId xmlns:a16="http://schemas.microsoft.com/office/drawing/2014/main" id="{4D4DE23B-F5E3-3C0A-FA03-CDDA7BB7CF8D}"/>
              </a:ext>
            </a:extLst>
          </p:cNvPr>
          <p:cNvSpPr txBox="1">
            <a:spLocks/>
          </p:cNvSpPr>
          <p:nvPr/>
        </p:nvSpPr>
        <p:spPr>
          <a:xfrm>
            <a:off x="1153220" y="12574479"/>
            <a:ext cx="9957167" cy="730250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noProof="0" dirty="0">
                <a:solidFill>
                  <a:schemeClr val="bg1"/>
                </a:solidFill>
              </a:rPr>
              <a:t>Understanding BERT for Medical Text Classification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3782" y="823353"/>
            <a:ext cx="22127039" cy="822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200" b="1" noProof="0" dirty="0">
                <a:solidFill>
                  <a:srgbClr val="172C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we will do in the notebook</a:t>
            </a:r>
            <a:endParaRPr lang="en-US" sz="6200" noProof="0" dirty="0"/>
          </a:p>
        </p:txBody>
      </p:sp>
      <p:sp>
        <p:nvSpPr>
          <p:cNvPr id="4" name="Text 2"/>
          <p:cNvSpPr/>
          <p:nvPr/>
        </p:nvSpPr>
        <p:spPr>
          <a:xfrm>
            <a:off x="2102983" y="2997396"/>
            <a:ext cx="768046" cy="768046"/>
          </a:xfrm>
          <a:prstGeom prst="ellipse">
            <a:avLst/>
          </a:prstGeom>
          <a:solidFill>
            <a:srgbClr val="087D7D"/>
          </a:solidFill>
          <a:ln>
            <a:solidFill>
              <a:srgbClr val="087D7D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3000" b="1" noProof="0" dirty="0">
                <a:solidFill>
                  <a:srgbClr val="FFFFFF"/>
                </a:solidFill>
              </a:rPr>
              <a:t>1</a:t>
            </a:r>
            <a:endParaRPr lang="en-US" sz="3000" noProof="0" dirty="0"/>
          </a:p>
        </p:txBody>
      </p:sp>
      <p:sp>
        <p:nvSpPr>
          <p:cNvPr id="5" name="Text 3"/>
          <p:cNvSpPr/>
          <p:nvPr/>
        </p:nvSpPr>
        <p:spPr>
          <a:xfrm>
            <a:off x="3328199" y="3088842"/>
            <a:ext cx="5851779" cy="512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00" b="1" noProof="0" dirty="0">
                <a:solidFill>
                  <a:srgbClr val="172C3A"/>
                </a:solidFill>
              </a:rPr>
              <a:t>Test before training</a:t>
            </a:r>
            <a:endParaRPr lang="en-US" sz="3400" noProof="0" dirty="0"/>
          </a:p>
        </p:txBody>
      </p:sp>
      <p:sp>
        <p:nvSpPr>
          <p:cNvPr id="6" name="Text 4"/>
          <p:cNvSpPr/>
          <p:nvPr/>
        </p:nvSpPr>
        <p:spPr>
          <a:xfrm>
            <a:off x="9509140" y="3088842"/>
            <a:ext cx="6948988" cy="512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noProof="0" dirty="0">
                <a:solidFill>
                  <a:srgbClr val="607280"/>
                </a:solidFill>
              </a:rPr>
              <a:t>see the random baseline</a:t>
            </a:r>
            <a:endParaRPr lang="en-US" sz="3000" noProof="0" dirty="0"/>
          </a:p>
        </p:txBody>
      </p:sp>
      <p:sp>
        <p:nvSpPr>
          <p:cNvPr id="7" name="Shape 5"/>
          <p:cNvSpPr/>
          <p:nvPr/>
        </p:nvSpPr>
        <p:spPr>
          <a:xfrm>
            <a:off x="2487006" y="3856877"/>
            <a:ext cx="0" cy="475457"/>
          </a:xfrm>
          <a:prstGeom prst="line">
            <a:avLst/>
          </a:prstGeom>
          <a:noFill/>
          <a:ln w="15240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 sz="3600" noProof="0" dirty="0"/>
          </a:p>
        </p:txBody>
      </p:sp>
      <p:sp>
        <p:nvSpPr>
          <p:cNvPr id="8" name="Text 6"/>
          <p:cNvSpPr/>
          <p:nvPr/>
        </p:nvSpPr>
        <p:spPr>
          <a:xfrm>
            <a:off x="2102983" y="4423768"/>
            <a:ext cx="768046" cy="768046"/>
          </a:xfrm>
          <a:prstGeom prst="ellipse">
            <a:avLst/>
          </a:prstGeom>
          <a:solidFill>
            <a:srgbClr val="087D7D"/>
          </a:solidFill>
          <a:ln>
            <a:solidFill>
              <a:srgbClr val="087D7D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3000" b="1" noProof="0" dirty="0">
                <a:solidFill>
                  <a:srgbClr val="FFFFFF"/>
                </a:solidFill>
              </a:rPr>
              <a:t>2</a:t>
            </a:r>
            <a:endParaRPr lang="en-US" sz="3000" noProof="0" dirty="0"/>
          </a:p>
        </p:txBody>
      </p:sp>
      <p:sp>
        <p:nvSpPr>
          <p:cNvPr id="9" name="Text 7"/>
          <p:cNvSpPr/>
          <p:nvPr/>
        </p:nvSpPr>
        <p:spPr>
          <a:xfrm>
            <a:off x="3328199" y="4515213"/>
            <a:ext cx="5851779" cy="512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00" b="1" noProof="0" dirty="0">
                <a:solidFill>
                  <a:srgbClr val="172C3A"/>
                </a:solidFill>
              </a:rPr>
              <a:t>Inspect tokenization</a:t>
            </a:r>
            <a:endParaRPr lang="en-US" sz="3400" noProof="0" dirty="0"/>
          </a:p>
        </p:txBody>
      </p:sp>
      <p:sp>
        <p:nvSpPr>
          <p:cNvPr id="10" name="Text 8"/>
          <p:cNvSpPr/>
          <p:nvPr/>
        </p:nvSpPr>
        <p:spPr>
          <a:xfrm>
            <a:off x="9509140" y="4515213"/>
            <a:ext cx="6948988" cy="512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noProof="0" dirty="0">
                <a:solidFill>
                  <a:srgbClr val="607280"/>
                </a:solidFill>
              </a:rPr>
              <a:t>text becomes tokens and IDs</a:t>
            </a:r>
            <a:endParaRPr lang="en-US" sz="3000" noProof="0" dirty="0"/>
          </a:p>
        </p:txBody>
      </p:sp>
      <p:sp>
        <p:nvSpPr>
          <p:cNvPr id="11" name="Shape 9"/>
          <p:cNvSpPr/>
          <p:nvPr/>
        </p:nvSpPr>
        <p:spPr>
          <a:xfrm>
            <a:off x="2487006" y="5283248"/>
            <a:ext cx="0" cy="475457"/>
          </a:xfrm>
          <a:prstGeom prst="line">
            <a:avLst/>
          </a:prstGeom>
          <a:noFill/>
          <a:ln w="15240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 sz="3600" noProof="0" dirty="0"/>
          </a:p>
        </p:txBody>
      </p:sp>
      <p:sp>
        <p:nvSpPr>
          <p:cNvPr id="12" name="Text 10"/>
          <p:cNvSpPr/>
          <p:nvPr/>
        </p:nvSpPr>
        <p:spPr>
          <a:xfrm>
            <a:off x="2102983" y="5850139"/>
            <a:ext cx="768046" cy="768046"/>
          </a:xfrm>
          <a:prstGeom prst="ellipse">
            <a:avLst/>
          </a:prstGeom>
          <a:solidFill>
            <a:srgbClr val="087D7D"/>
          </a:solidFill>
          <a:ln>
            <a:solidFill>
              <a:srgbClr val="087D7D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3000" b="1" noProof="0" dirty="0">
                <a:solidFill>
                  <a:srgbClr val="FFFFFF"/>
                </a:solidFill>
              </a:rPr>
              <a:t>3</a:t>
            </a:r>
            <a:endParaRPr lang="en-US" sz="3000" noProof="0" dirty="0"/>
          </a:p>
        </p:txBody>
      </p:sp>
      <p:sp>
        <p:nvSpPr>
          <p:cNvPr id="13" name="Text 11"/>
          <p:cNvSpPr/>
          <p:nvPr/>
        </p:nvSpPr>
        <p:spPr>
          <a:xfrm>
            <a:off x="3328199" y="5941585"/>
            <a:ext cx="5851779" cy="512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00" b="1" noProof="0" dirty="0">
                <a:solidFill>
                  <a:srgbClr val="172C3A"/>
                </a:solidFill>
              </a:rPr>
              <a:t>Look at embeddings</a:t>
            </a:r>
            <a:endParaRPr lang="en-US" sz="3400" noProof="0" dirty="0"/>
          </a:p>
        </p:txBody>
      </p:sp>
      <p:sp>
        <p:nvSpPr>
          <p:cNvPr id="14" name="Text 12"/>
          <p:cNvSpPr/>
          <p:nvPr/>
        </p:nvSpPr>
        <p:spPr>
          <a:xfrm>
            <a:off x="9509140" y="5941585"/>
            <a:ext cx="6948988" cy="512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noProof="0" dirty="0">
                <a:solidFill>
                  <a:srgbClr val="607280"/>
                </a:solidFill>
              </a:rPr>
              <a:t>tokens become numerical vectors</a:t>
            </a:r>
            <a:endParaRPr lang="en-US" sz="3000" noProof="0" dirty="0"/>
          </a:p>
        </p:txBody>
      </p:sp>
      <p:sp>
        <p:nvSpPr>
          <p:cNvPr id="15" name="Shape 13"/>
          <p:cNvSpPr/>
          <p:nvPr/>
        </p:nvSpPr>
        <p:spPr>
          <a:xfrm>
            <a:off x="2487006" y="6709619"/>
            <a:ext cx="0" cy="475457"/>
          </a:xfrm>
          <a:prstGeom prst="line">
            <a:avLst/>
          </a:prstGeom>
          <a:noFill/>
          <a:ln w="15240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 sz="3600" noProof="0" dirty="0"/>
          </a:p>
        </p:txBody>
      </p:sp>
      <p:sp>
        <p:nvSpPr>
          <p:cNvPr id="16" name="Text 14"/>
          <p:cNvSpPr/>
          <p:nvPr/>
        </p:nvSpPr>
        <p:spPr>
          <a:xfrm>
            <a:off x="2102983" y="7276510"/>
            <a:ext cx="768046" cy="768046"/>
          </a:xfrm>
          <a:prstGeom prst="ellipse">
            <a:avLst/>
          </a:prstGeom>
          <a:solidFill>
            <a:srgbClr val="087D7D"/>
          </a:solidFill>
          <a:ln>
            <a:solidFill>
              <a:srgbClr val="087D7D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3000" b="1" noProof="0" dirty="0">
                <a:solidFill>
                  <a:srgbClr val="FFFFFF"/>
                </a:solidFill>
              </a:rPr>
              <a:t>4</a:t>
            </a:r>
            <a:endParaRPr lang="en-US" sz="3000" noProof="0" dirty="0"/>
          </a:p>
        </p:txBody>
      </p:sp>
      <p:sp>
        <p:nvSpPr>
          <p:cNvPr id="17" name="Text 15"/>
          <p:cNvSpPr/>
          <p:nvPr/>
        </p:nvSpPr>
        <p:spPr>
          <a:xfrm>
            <a:off x="3328199" y="7367956"/>
            <a:ext cx="5851779" cy="512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00" b="1" noProof="0" dirty="0">
                <a:solidFill>
                  <a:srgbClr val="172C3A"/>
                </a:solidFill>
              </a:rPr>
              <a:t>Fine-tune BERT</a:t>
            </a:r>
            <a:endParaRPr lang="en-US" sz="3400" noProof="0" dirty="0"/>
          </a:p>
        </p:txBody>
      </p:sp>
      <p:sp>
        <p:nvSpPr>
          <p:cNvPr id="18" name="Text 16"/>
          <p:cNvSpPr/>
          <p:nvPr/>
        </p:nvSpPr>
        <p:spPr>
          <a:xfrm>
            <a:off x="9509140" y="7367956"/>
            <a:ext cx="6948988" cy="512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noProof="0" dirty="0">
                <a:solidFill>
                  <a:srgbClr val="607280"/>
                </a:solidFill>
              </a:rPr>
              <a:t>adapt the model to our labels</a:t>
            </a:r>
            <a:endParaRPr lang="en-US" sz="3000" noProof="0" dirty="0"/>
          </a:p>
        </p:txBody>
      </p:sp>
      <p:sp>
        <p:nvSpPr>
          <p:cNvPr id="19" name="Shape 17"/>
          <p:cNvSpPr/>
          <p:nvPr/>
        </p:nvSpPr>
        <p:spPr>
          <a:xfrm>
            <a:off x="2487006" y="8135990"/>
            <a:ext cx="0" cy="475457"/>
          </a:xfrm>
          <a:prstGeom prst="line">
            <a:avLst/>
          </a:prstGeom>
          <a:noFill/>
          <a:ln w="15240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 sz="3600" noProof="0" dirty="0"/>
          </a:p>
        </p:txBody>
      </p:sp>
      <p:sp>
        <p:nvSpPr>
          <p:cNvPr id="20" name="Text 18"/>
          <p:cNvSpPr/>
          <p:nvPr/>
        </p:nvSpPr>
        <p:spPr>
          <a:xfrm>
            <a:off x="2102983" y="8702881"/>
            <a:ext cx="768046" cy="768046"/>
          </a:xfrm>
          <a:prstGeom prst="ellipse">
            <a:avLst/>
          </a:prstGeom>
          <a:solidFill>
            <a:srgbClr val="087D7D"/>
          </a:solidFill>
          <a:ln>
            <a:solidFill>
              <a:srgbClr val="087D7D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3000" b="1" noProof="0" dirty="0">
                <a:solidFill>
                  <a:srgbClr val="FFFFFF"/>
                </a:solidFill>
              </a:rPr>
              <a:t>5</a:t>
            </a:r>
            <a:endParaRPr lang="en-US" sz="3000" noProof="0" dirty="0"/>
          </a:p>
        </p:txBody>
      </p:sp>
      <p:sp>
        <p:nvSpPr>
          <p:cNvPr id="21" name="Text 19"/>
          <p:cNvSpPr/>
          <p:nvPr/>
        </p:nvSpPr>
        <p:spPr>
          <a:xfrm>
            <a:off x="3328199" y="8794327"/>
            <a:ext cx="5851779" cy="512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00" b="1" noProof="0" dirty="0">
                <a:solidFill>
                  <a:srgbClr val="172C3A"/>
                </a:solidFill>
              </a:rPr>
              <a:t>Visualize attention</a:t>
            </a:r>
            <a:endParaRPr lang="en-US" sz="3400" noProof="0" dirty="0"/>
          </a:p>
        </p:txBody>
      </p:sp>
      <p:sp>
        <p:nvSpPr>
          <p:cNvPr id="22" name="Text 20"/>
          <p:cNvSpPr/>
          <p:nvPr/>
        </p:nvSpPr>
        <p:spPr>
          <a:xfrm>
            <a:off x="9509140" y="8794327"/>
            <a:ext cx="6948988" cy="512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noProof="0" dirty="0">
                <a:solidFill>
                  <a:srgbClr val="607280"/>
                </a:solidFill>
              </a:rPr>
              <a:t>inspect contextual connections</a:t>
            </a:r>
            <a:endParaRPr lang="en-US" sz="3000" noProof="0" dirty="0"/>
          </a:p>
        </p:txBody>
      </p:sp>
      <p:sp>
        <p:nvSpPr>
          <p:cNvPr id="23" name="Shape 21"/>
          <p:cNvSpPr/>
          <p:nvPr/>
        </p:nvSpPr>
        <p:spPr>
          <a:xfrm>
            <a:off x="2487006" y="9562361"/>
            <a:ext cx="0" cy="475457"/>
          </a:xfrm>
          <a:prstGeom prst="line">
            <a:avLst/>
          </a:prstGeom>
          <a:noFill/>
          <a:ln w="15240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 sz="3600" noProof="0" dirty="0"/>
          </a:p>
        </p:txBody>
      </p:sp>
      <p:sp>
        <p:nvSpPr>
          <p:cNvPr id="24" name="Text 22"/>
          <p:cNvSpPr/>
          <p:nvPr/>
        </p:nvSpPr>
        <p:spPr>
          <a:xfrm>
            <a:off x="2102983" y="10129252"/>
            <a:ext cx="768046" cy="768046"/>
          </a:xfrm>
          <a:prstGeom prst="ellipse">
            <a:avLst/>
          </a:prstGeom>
          <a:solidFill>
            <a:srgbClr val="087D7D"/>
          </a:solidFill>
          <a:ln>
            <a:solidFill>
              <a:srgbClr val="087D7D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3000" b="1" noProof="0" dirty="0">
                <a:solidFill>
                  <a:srgbClr val="FFFFFF"/>
                </a:solidFill>
              </a:rPr>
              <a:t>6</a:t>
            </a:r>
            <a:endParaRPr lang="en-US" sz="3000" noProof="0" dirty="0"/>
          </a:p>
        </p:txBody>
      </p:sp>
      <p:sp>
        <p:nvSpPr>
          <p:cNvPr id="25" name="Text 23"/>
          <p:cNvSpPr/>
          <p:nvPr/>
        </p:nvSpPr>
        <p:spPr>
          <a:xfrm>
            <a:off x="3328199" y="10220698"/>
            <a:ext cx="5851779" cy="512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00" b="1" noProof="0" dirty="0">
                <a:solidFill>
                  <a:srgbClr val="172C3A"/>
                </a:solidFill>
              </a:rPr>
              <a:t>Compare headache with two different context</a:t>
            </a:r>
            <a:endParaRPr lang="en-US" sz="3400" noProof="0" dirty="0"/>
          </a:p>
        </p:txBody>
      </p:sp>
      <p:sp>
        <p:nvSpPr>
          <p:cNvPr id="26" name="Text 24"/>
          <p:cNvSpPr/>
          <p:nvPr/>
        </p:nvSpPr>
        <p:spPr>
          <a:xfrm>
            <a:off x="9509140" y="10220698"/>
            <a:ext cx="6948988" cy="512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noProof="0" dirty="0">
                <a:solidFill>
                  <a:srgbClr val="607280"/>
                </a:solidFill>
              </a:rPr>
              <a:t>see how token vectors changed</a:t>
            </a:r>
            <a:endParaRPr lang="en-US" sz="3000" noProof="0" dirty="0"/>
          </a:p>
        </p:txBody>
      </p:sp>
      <p:sp>
        <p:nvSpPr>
          <p:cNvPr id="31" name="Text 29"/>
          <p:cNvSpPr/>
          <p:nvPr/>
        </p:nvSpPr>
        <p:spPr>
          <a:xfrm>
            <a:off x="23132814" y="12892647"/>
            <a:ext cx="640038" cy="329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700" noProof="0" dirty="0">
                <a:solidFill>
                  <a:srgbClr val="607280"/>
                </a:solidFill>
              </a:rPr>
              <a:t>7</a:t>
            </a:r>
            <a:endParaRPr lang="en-US" sz="1700" noProof="0" dirty="0"/>
          </a:p>
        </p:txBody>
      </p:sp>
      <p:sp>
        <p:nvSpPr>
          <p:cNvPr id="32" name="TextBox 2">
            <a:extLst>
              <a:ext uri="{FF2B5EF4-FFF2-40B4-BE49-F238E27FC236}">
                <a16:creationId xmlns:a16="http://schemas.microsoft.com/office/drawing/2014/main" id="{5D03CD48-6E4C-3BE6-EADA-F922F3BA26B2}"/>
              </a:ext>
            </a:extLst>
          </p:cNvPr>
          <p:cNvSpPr txBox="1"/>
          <p:nvPr/>
        </p:nvSpPr>
        <p:spPr>
          <a:xfrm>
            <a:off x="1060634" y="1737695"/>
            <a:ext cx="9747019" cy="498596"/>
          </a:xfrm>
          <a:prstGeom prst="rect">
            <a:avLst/>
          </a:prstGeom>
          <a:noFill/>
        </p:spPr>
        <p:txBody>
          <a:bodyPr wrap="none" lIns="54860" tIns="18287" rIns="54860" bIns="18287">
            <a:spAutoFit/>
          </a:bodyPr>
          <a:lstStyle/>
          <a:p>
            <a:pPr>
              <a:defRPr sz="1500" b="0">
                <a:solidFill>
                  <a:srgbClr val="5B697D"/>
                </a:solidFill>
                <a:latin typeface="Aptos"/>
              </a:defRPr>
            </a:pPr>
            <a:r>
              <a:rPr lang="en-US" sz="3000" noProof="0" dirty="0"/>
              <a:t>We will follow the same two sentences through the model.</a:t>
            </a:r>
          </a:p>
        </p:txBody>
      </p:sp>
      <p:sp>
        <p:nvSpPr>
          <p:cNvPr id="33" name="Élőláb helye 3">
            <a:extLst>
              <a:ext uri="{FF2B5EF4-FFF2-40B4-BE49-F238E27FC236}">
                <a16:creationId xmlns:a16="http://schemas.microsoft.com/office/drawing/2014/main" id="{E5292829-749F-9D89-08E7-9B60A81201B0}"/>
              </a:ext>
            </a:extLst>
          </p:cNvPr>
          <p:cNvSpPr txBox="1">
            <a:spLocks/>
          </p:cNvSpPr>
          <p:nvPr/>
        </p:nvSpPr>
        <p:spPr>
          <a:xfrm>
            <a:off x="1153220" y="12574479"/>
            <a:ext cx="9957167" cy="730250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noProof="0" dirty="0">
                <a:solidFill>
                  <a:schemeClr val="bg1"/>
                </a:solidFill>
              </a:rPr>
              <a:t>Understanding BERT for Medical Text Classification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5F32A51-CFBF-E980-BE9B-7FF7C9C1D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https://shorturl.at/XaYtE</a:t>
            </a:r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7366ECF3-8EAD-EFB2-7F16-6046A647A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sz="3200" dirty="0"/>
              <a:t>Understanding BERT for Medical Text Classification</a:t>
            </a:r>
            <a:endParaRPr lang="hu-HU" sz="3200" dirty="0"/>
          </a:p>
        </p:txBody>
      </p:sp>
    </p:spTree>
    <p:extLst>
      <p:ext uri="{BB962C8B-B14F-4D97-AF65-F5344CB8AC3E}">
        <p14:creationId xmlns:p14="http://schemas.microsoft.com/office/powerpoint/2010/main" val="11481360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MUK">
      <a:dk1>
        <a:sysClr val="windowText" lastClr="000000"/>
      </a:dk1>
      <a:lt1>
        <a:sysClr val="window" lastClr="FFFFFF"/>
      </a:lt1>
      <a:dk2>
        <a:srgbClr val="000000"/>
      </a:dk2>
      <a:lt2>
        <a:srgbClr val="E4E4E4"/>
      </a:lt2>
      <a:accent1>
        <a:srgbClr val="F05564"/>
      </a:accent1>
      <a:accent2>
        <a:srgbClr val="F0DC50"/>
      </a:accent2>
      <a:accent3>
        <a:srgbClr val="007D96"/>
      </a:accent3>
      <a:accent4>
        <a:srgbClr val="686868"/>
      </a:accent4>
      <a:accent5>
        <a:srgbClr val="69C3AF"/>
      </a:accent5>
      <a:accent6>
        <a:srgbClr val="B4B4B4"/>
      </a:accent6>
      <a:hlink>
        <a:srgbClr val="0563C1"/>
      </a:hlink>
      <a:folHlink>
        <a:srgbClr val="954F72"/>
      </a:folHlink>
    </a:clrScheme>
    <a:fontScheme name="MUK">
      <a:majorFont>
        <a:latin typeface="Lato"/>
        <a:ea typeface=""/>
        <a:cs typeface=""/>
      </a:majorFont>
      <a:minorFont>
        <a:latin typeface="Lato"/>
        <a:ea typeface=""/>
        <a:cs typeface=""/>
      </a:minorFont>
    </a:fontScheme>
    <a:fmtScheme name="Office-té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MF_PPT_Template_ENG_04.14" id="{E3657BC1-ACA3-B449-810F-7DB857716094}" vid="{F271C2DA-4B22-3341-A344-7E52670867E0}"/>
    </a:ext>
  </a:extLst>
</a:theme>
</file>

<file path=ppt/theme/theme2.xml><?xml version="1.0" encoding="utf-8"?>
<a:theme xmlns:a="http://schemas.openxmlformats.org/drawingml/2006/main" name="1_Office-téma">
  <a:themeElements>
    <a:clrScheme name="1. egyéni séma">
      <a:dk1>
        <a:sysClr val="windowText" lastClr="000000"/>
      </a:dk1>
      <a:lt1>
        <a:sysClr val="window" lastClr="FFFFFF"/>
      </a:lt1>
      <a:dk2>
        <a:srgbClr val="000000"/>
      </a:dk2>
      <a:lt2>
        <a:srgbClr val="E4E4E4"/>
      </a:lt2>
      <a:accent1>
        <a:srgbClr val="F05564"/>
      </a:accent1>
      <a:accent2>
        <a:srgbClr val="F0DC50"/>
      </a:accent2>
      <a:accent3>
        <a:srgbClr val="007D96"/>
      </a:accent3>
      <a:accent4>
        <a:srgbClr val="686868"/>
      </a:accent4>
      <a:accent5>
        <a:srgbClr val="69C3AF"/>
      </a:accent5>
      <a:accent6>
        <a:srgbClr val="B4B4B4"/>
      </a:accent6>
      <a:hlink>
        <a:srgbClr val="0563C1"/>
      </a:hlink>
      <a:folHlink>
        <a:srgbClr val="954F72"/>
      </a:folHlink>
    </a:clrScheme>
    <a:fontScheme name="MUK">
      <a:majorFont>
        <a:latin typeface="Lato"/>
        <a:ea typeface=""/>
        <a:cs typeface=""/>
      </a:majorFont>
      <a:minorFont>
        <a:latin typeface="Lato"/>
        <a:ea typeface=""/>
        <a:cs typeface=""/>
      </a:minorFont>
    </a:fontScheme>
    <a:fmtScheme name="Office-té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MF_PPT_Template_ENG_04.14" id="{E3657BC1-ACA3-B449-810F-7DB857716094}" vid="{1DB4ACB7-E82F-CD4F-A047-E8D9188FFF90}"/>
    </a:ext>
  </a:extLst>
</a:theme>
</file>

<file path=ppt/theme/theme3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7e8f6af-84b5-48c1-8f1b-6d4a6a50693b" xsi:nil="true"/>
    <lcf76f155ced4ddcb4097134ff3c332f xmlns="b95b538e-9dbf-4a6a-adce-c060378dfeb3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C9086D2F38074EB30FEE325F126BDC" ma:contentTypeVersion="13" ma:contentTypeDescription="Create a new document." ma:contentTypeScope="" ma:versionID="f6f81e6001d427b3c6d71046c610852c">
  <xsd:schema xmlns:xsd="http://www.w3.org/2001/XMLSchema" xmlns:xs="http://www.w3.org/2001/XMLSchema" xmlns:p="http://schemas.microsoft.com/office/2006/metadata/properties" xmlns:ns2="b95b538e-9dbf-4a6a-adce-c060378dfeb3" xmlns:ns3="b7e8f6af-84b5-48c1-8f1b-6d4a6a50693b" targetNamespace="http://schemas.microsoft.com/office/2006/metadata/properties" ma:root="true" ma:fieldsID="6e80591dae5f7dcb6fbdf0af7c789373" ns2:_="" ns3:_="">
    <xsd:import namespace="b95b538e-9dbf-4a6a-adce-c060378dfeb3"/>
    <xsd:import namespace="b7e8f6af-84b5-48c1-8f1b-6d4a6a50693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5b538e-9dbf-4a6a-adce-c060378dfeb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0eb464f9-4c8a-47b5-b2ff-0dc62c7f15e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e8f6af-84b5-48c1-8f1b-6d4a6a50693b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a8a5a013-a63b-4f92-821a-7636d116595e}" ma:internalName="TaxCatchAll" ma:showField="CatchAllData" ma:web="b7e8f6af-84b5-48c1-8f1b-6d4a6a50693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AF4F2AF-AACE-40E5-8A5C-C4314E0850E6}">
  <ds:schemaRefs>
    <ds:schemaRef ds:uri="http://purl.org/dc/dcmitype/"/>
    <ds:schemaRef ds:uri="http://schemas.microsoft.com/office/2006/metadata/properties"/>
    <ds:schemaRef ds:uri="7baf75f2-6ff8-46d4-a389-2cecd81b4623"/>
    <ds:schemaRef ds:uri="http://purl.org/dc/elements/1.1/"/>
    <ds:schemaRef ds:uri="3dfdc9e5-1d3a-43ae-8147-14907b08e71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http://www.w3.org/XML/1998/namespace"/>
    <ds:schemaRef ds:uri="b7e8f6af-84b5-48c1-8f1b-6d4a6a50693b"/>
    <ds:schemaRef ds:uri="b95b538e-9dbf-4a6a-adce-c060378dfeb3"/>
  </ds:schemaRefs>
</ds:datastoreItem>
</file>

<file path=customXml/itemProps2.xml><?xml version="1.0" encoding="utf-8"?>
<ds:datastoreItem xmlns:ds="http://schemas.openxmlformats.org/officeDocument/2006/customXml" ds:itemID="{0A0B6866-5A64-4A63-A643-40A643302FE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95b538e-9dbf-4a6a-adce-c060378dfeb3"/>
    <ds:schemaRef ds:uri="b7e8f6af-84b5-48c1-8f1b-6d4a6a50693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B3D62FE-57A0-46B6-9049-24ABBB08E7B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NLP_tutorial</Template>
  <TotalTime>62</TotalTime>
  <Words>436</Words>
  <Application>Microsoft Office PowerPoint</Application>
  <PresentationFormat>Egyéni</PresentationFormat>
  <Paragraphs>125</Paragraphs>
  <Slides>8</Slides>
  <Notes>6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6</vt:i4>
      </vt:variant>
      <vt:variant>
        <vt:lpstr>Téma</vt:lpstr>
      </vt:variant>
      <vt:variant>
        <vt:i4>2</vt:i4>
      </vt:variant>
      <vt:variant>
        <vt:lpstr>Diacímek</vt:lpstr>
      </vt:variant>
      <vt:variant>
        <vt:i4>8</vt:i4>
      </vt:variant>
    </vt:vector>
  </HeadingPairs>
  <TitlesOfParts>
    <vt:vector size="16" baseType="lpstr">
      <vt:lpstr>Calibri</vt:lpstr>
      <vt:lpstr>Aptos Display</vt:lpstr>
      <vt:lpstr>Lato</vt:lpstr>
      <vt:lpstr>Lato Black</vt:lpstr>
      <vt:lpstr>Lato Light</vt:lpstr>
      <vt:lpstr>Arial</vt:lpstr>
      <vt:lpstr>Office-téma</vt:lpstr>
      <vt:lpstr>1_Office-téma</vt:lpstr>
      <vt:lpstr>Understanding BERT for Medical Text Classification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https://shorturl.at/XaYtE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Zarándy Zita</dc:creator>
  <cp:lastModifiedBy>Zarándy Zita</cp:lastModifiedBy>
  <cp:revision>2</cp:revision>
  <dcterms:created xsi:type="dcterms:W3CDTF">2026-07-07T08:44:28Z</dcterms:created>
  <dcterms:modified xsi:type="dcterms:W3CDTF">2026-07-07T10:57:20Z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0x0101000DC9086D2F38074EB30FEE325F126BDC</vt:lpwstr>
  </property>
</Properties>
</file>